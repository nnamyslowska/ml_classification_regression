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opener. State your name, that this is your Task 2 regression submission, and that you'll spend the next four minutes covering the approach, the one decision that mattered most (R17 cleaning), the features, and the final results. Keep it under fifteen seconds so you have time for the substance.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built a single pipeline that takes the raw survey data, cleans the R17 region, engineers around three hundred and fifty features, runs five fold cross validation across the six syllabus regressors, tunes the two best with grid search, and then uses the held out validation set to decide whether to apply Duan's smearing on the back transform and what weight to give each model in the final ensemble. The three decisions on the right are the ones that actually moved the needle; the rest is plumbing. I'll spend most of the time on R17 and feature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observation that everyone working with this dataset makes: the raw target has skewness above thirty three, with reported salaries ranging from one dollar to four point seven seven million. That makes least squares regression behave very badly on the raw scale, because the loss is dominated by a tiny number of extreme rows. Modelling log one plus salary instead gives a roughly symmetric target, and we back transform to dollars before measuring RMSE so the metric is still on the scale the task asks for. I'll be quick here since the other presentations will cover the dataset in more depth.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distinguishes my submission. R17 is a noisy region that contains both the lowest reported salaries in the entire dataset and the highest, all the way up to four point seven million. The most natural explanation is that some respondents reported in local currency rather than dollars. I tried three cleaning strategies. First, a blanket per region ninety ninth percentile winsorisation, the way many tutorials would suggest. That actually hurts, because it also clips legitimate high earners in other regions. Second, leaving everything intact above five hundred dollars. Better, but still has the R17 contamination in training. Third, a targeted two sided filter on R17 only: drop below five hundred and above five hundred thousand. Only three rows in the entire dataset get removed, but that surgical removal gives the lowest validation RMSE of the three approaches. The key insight is that more cleaning is not always better; the cleaning has to be targeted at the right contamination.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groups of engineered features. The first three are about giving the linear models curvature where the data has curvature: quadratic and log terms on experience, seniority keywords parsed out of the dev role string, and technology breadth from the fifteen multi select columns, encoded both as counts and as binary indicators for the most common items. The fourth one is the most analytically interesting: for several AI related columns the row is only shown the question if they use AI tools at all, so the missingness itself is informative; I added a binary flag for every column with more than ten percent missing in training. The fifth is a region by company size interaction, target encoded, which lets the model learn that the same company size band can mean different salary levels in different regions. All the data dependent decisions, like the top N tech items, are fitted on the training split alone to prevent leakage.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five fold cross validation on the cleaned training set with the same preprocessing pipeline for every model. SVR with the RBF kernel wins clearly at about forty six thousand dollars CV RMSE; LASSO and ElasticNet are tied as runners up around forty eight to forty nine thousand. I then tuned SVR and ElasticNet with grid search and combined them in a linear ensemble whose weight was scanned on the held out validation split. The final weights are zero point five six SVR and zero point four four ElasticNet. Smearing helps ElasticNet but not SVR, so I applied it only where the validation set said it improved RMSE. Final held out validation RMSE is about thirty two thousand two hundred. The internal test RMSE looks much larger at seventy three thousand, but more than half of that comes from one single R17 row reported at one point two seven million; my model predicts it at the regional norm because that's what the feature pattern says, and on the assumption that the row is currency contaminated this is the right behaviour.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in thirty seconds. First, cleaning matters but targeting matters more; the blanket cap looked great on the metric but generalised worse, while a three row surgical removal won on the validation set. Second, every selection decision in this notebook was made on the held out validation split, not on training residuals, which kept the methodology honest. Third, the six regressors from the syllabus, combined as a simple linear ensemble of the two best, are genuinely enough for this problem; no gradient boosting or deep learning was needed. Thanks for listening,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515600" cy="457200"/>
          </a:xfrm>
          <a:prstGeom prst="rect">
            <a:avLst/>
          </a:prstGeom>
          <a:noFill/>
        </p:spPr>
        <p:txBody>
          <a:bodyPr wrap="square" lIns="0" rIns="0" tIns="0" bIns="0" anchor="t">
            <a:spAutoFit/>
          </a:bodyPr>
          <a:lstStyle/>
          <a:p>
            <a:pPr algn="l"/>
            <a:r>
              <a:rPr sz="1800" b="0">
                <a:solidFill>
                  <a:srgbClr val="555555"/>
                </a:solidFill>
                <a:latin typeface="Calibri"/>
              </a:rPr>
              <a:t>ML1 (2026) — Task 2</a:t>
            </a:r>
          </a:p>
        </p:txBody>
      </p:sp>
      <p:sp>
        <p:nvSpPr>
          <p:cNvPr id="5" name="TextBox 4"/>
          <p:cNvSpPr txBox="1"/>
          <p:nvPr/>
        </p:nvSpPr>
        <p:spPr>
          <a:xfrm>
            <a:off x="914400" y="2103120"/>
            <a:ext cx="10515600" cy="1371600"/>
          </a:xfrm>
          <a:prstGeom prst="rect">
            <a:avLst/>
          </a:prstGeom>
          <a:noFill/>
        </p:spPr>
        <p:txBody>
          <a:bodyPr wrap="square" lIns="0" rIns="0" tIns="0" bIns="0" anchor="t">
            <a:spAutoFit/>
          </a:bodyPr>
          <a:lstStyle/>
          <a:p>
            <a:pPr algn="l"/>
            <a:r>
              <a:rPr sz="4600" b="1">
                <a:solidFill>
                  <a:srgbClr val="1F4E79"/>
                </a:solidFill>
                <a:latin typeface="Calibri"/>
              </a:rPr>
              <a:t>Developer Salary Prediction</a:t>
            </a:r>
          </a:p>
        </p:txBody>
      </p:sp>
      <p:sp>
        <p:nvSpPr>
          <p:cNvPr id="6" name="TextBox 5"/>
          <p:cNvSpPr txBox="1"/>
          <p:nvPr/>
        </p:nvSpPr>
        <p:spPr>
          <a:xfrm>
            <a:off x="914400" y="3108960"/>
            <a:ext cx="10515600" cy="548640"/>
          </a:xfrm>
          <a:prstGeom prst="rect">
            <a:avLst/>
          </a:prstGeom>
          <a:noFill/>
        </p:spPr>
        <p:txBody>
          <a:bodyPr wrap="square" lIns="0" rIns="0" tIns="0" bIns="0" anchor="t">
            <a:spAutoFit/>
          </a:bodyPr>
          <a:lstStyle/>
          <a:p>
            <a:pPr algn="l"/>
            <a:r>
              <a:rPr sz="2200" b="0">
                <a:solidFill>
                  <a:srgbClr val="222222"/>
                </a:solidFill>
                <a:latin typeface="Calibri"/>
              </a:rPr>
              <a:t>A regularised linear and SVR-RBF ensemble approach</a:t>
            </a:r>
          </a:p>
        </p:txBody>
      </p:sp>
      <p:sp>
        <p:nvSpPr>
          <p:cNvPr id="7" name="Rectangle 6"/>
          <p:cNvSpPr/>
          <p:nvPr/>
        </p:nvSpPr>
        <p:spPr>
          <a:xfrm>
            <a:off x="914400" y="4023360"/>
            <a:ext cx="2286000" cy="25400"/>
          </a:xfrm>
          <a:prstGeom prst="rect">
            <a:avLst/>
          </a:prstGeom>
          <a:solidFill>
            <a:srgbClr val="4F81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297680"/>
            <a:ext cx="10515600" cy="457200"/>
          </a:xfrm>
          <a:prstGeom prst="rect">
            <a:avLst/>
          </a:prstGeom>
          <a:noFill/>
        </p:spPr>
        <p:txBody>
          <a:bodyPr wrap="square" lIns="0" rIns="0" tIns="0" bIns="0" anchor="t">
            <a:spAutoFit/>
          </a:bodyPr>
          <a:lstStyle/>
          <a:p>
            <a:pPr algn="l"/>
            <a:r>
              <a:rPr sz="2200" b="1">
                <a:solidFill>
                  <a:srgbClr val="222222"/>
                </a:solidFill>
                <a:latin typeface="Calibri"/>
              </a:rPr>
              <a:t>[ Your name ]</a:t>
            </a:r>
          </a:p>
        </p:txBody>
      </p:sp>
      <p:sp>
        <p:nvSpPr>
          <p:cNvPr id="9" name="TextBox 8"/>
          <p:cNvSpPr txBox="1"/>
          <p:nvPr/>
        </p:nvSpPr>
        <p:spPr>
          <a:xfrm>
            <a:off x="914400" y="4754880"/>
            <a:ext cx="10515600" cy="365760"/>
          </a:xfrm>
          <a:prstGeom prst="rect">
            <a:avLst/>
          </a:prstGeom>
          <a:noFill/>
        </p:spPr>
        <p:txBody>
          <a:bodyPr wrap="square" lIns="0" rIns="0" tIns="0" bIns="0" anchor="t">
            <a:spAutoFit/>
          </a:bodyPr>
          <a:lstStyle/>
          <a:p>
            <a:pPr algn="l"/>
            <a:r>
              <a:rPr sz="1600" b="0">
                <a:solidFill>
                  <a:srgbClr val="555555"/>
                </a:solidFill>
                <a:latin typeface="Calibri"/>
              </a:rPr>
              <a:t>[ Course / professor / date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164592"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594360"/>
          </a:xfrm>
          <a:prstGeom prst="rect">
            <a:avLst/>
          </a:prstGeom>
          <a:noFill/>
        </p:spPr>
        <p:txBody>
          <a:bodyPr wrap="square" lIns="0" rIns="0" tIns="0" bIns="0" anchor="t">
            <a:spAutoFit/>
          </a:bodyPr>
          <a:lstStyle/>
          <a:p>
            <a:pPr algn="l"/>
            <a:r>
              <a:rPr sz="3000" b="1">
                <a:solidFill>
                  <a:srgbClr val="1F4E79"/>
                </a:solidFill>
                <a:latin typeface="Calibri"/>
              </a:rPr>
              <a:t>Approach overview</a:t>
            </a:r>
          </a:p>
        </p:txBody>
      </p:sp>
      <p:sp>
        <p:nvSpPr>
          <p:cNvPr id="5" name="TextBox 4"/>
          <p:cNvSpPr txBox="1"/>
          <p:nvPr/>
        </p:nvSpPr>
        <p:spPr>
          <a:xfrm>
            <a:off x="777240" y="914400"/>
            <a:ext cx="10515600" cy="411480"/>
          </a:xfrm>
          <a:prstGeom prst="rect">
            <a:avLst/>
          </a:prstGeom>
          <a:noFill/>
        </p:spPr>
        <p:txBody>
          <a:bodyPr wrap="square" lIns="0" rIns="0" tIns="0" bIns="0" anchor="t">
            <a:spAutoFit/>
          </a:bodyPr>
          <a:lstStyle/>
          <a:p>
            <a:pPr algn="l"/>
            <a:r>
              <a:rPr sz="1600" b="0">
                <a:solidFill>
                  <a:srgbClr val="555555"/>
                </a:solidFill>
                <a:latin typeface="Calibri"/>
              </a:rPr>
              <a:t>Six syllabus regressors compared, the two best combined into a linear ensemble</a:t>
            </a:r>
          </a:p>
        </p:txBody>
      </p:sp>
      <p:sp>
        <p:nvSpPr>
          <p:cNvPr id="6" name="Rounded Rectangle 5"/>
          <p:cNvSpPr/>
          <p:nvPr/>
        </p:nvSpPr>
        <p:spPr>
          <a:xfrm>
            <a:off x="777240" y="1554480"/>
            <a:ext cx="5120640" cy="420624"/>
          </a:xfrm>
          <a:prstGeom prst="roundRect">
            <a:avLst/>
          </a:prstGeom>
          <a:solidFill>
            <a:srgbClr val="F3F7FB"/>
          </a:solidFill>
          <a:ln w="6350">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b="1" sz="1400">
                <a:solidFill>
                  <a:srgbClr val="1F4E79"/>
                </a:solidFill>
              </a:rPr>
              <a:t>1. </a:t>
            </a:r>
            <a:r>
              <a:rPr sz="1400">
                <a:solidFill>
                  <a:srgbClr val="222222"/>
                </a:solidFill>
              </a:rPr>
              <a:t>Train / val / test split (70 / 15 / 15)</a:t>
            </a:r>
          </a:p>
        </p:txBody>
      </p:sp>
      <p:sp>
        <p:nvSpPr>
          <p:cNvPr id="7" name="Rounded Rectangle 6"/>
          <p:cNvSpPr/>
          <p:nvPr/>
        </p:nvSpPr>
        <p:spPr>
          <a:xfrm>
            <a:off x="777240" y="2029968"/>
            <a:ext cx="5120640" cy="420624"/>
          </a:xfrm>
          <a:prstGeom prst="roundRect">
            <a:avLst/>
          </a:prstGeom>
          <a:solidFill>
            <a:srgbClr val="E6EFF7"/>
          </a:solidFill>
          <a:ln w="6350">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b="1" sz="1400">
                <a:solidFill>
                  <a:srgbClr val="1F4E79"/>
                </a:solidFill>
              </a:rPr>
              <a:t>2. </a:t>
            </a:r>
            <a:r>
              <a:rPr sz="1400">
                <a:solidFill>
                  <a:srgbClr val="222222"/>
                </a:solidFill>
              </a:rPr>
              <a:t>R17 cleaning (training only)</a:t>
            </a:r>
          </a:p>
        </p:txBody>
      </p:sp>
      <p:sp>
        <p:nvSpPr>
          <p:cNvPr id="8" name="Rounded Rectangle 7"/>
          <p:cNvSpPr/>
          <p:nvPr/>
        </p:nvSpPr>
        <p:spPr>
          <a:xfrm>
            <a:off x="777240" y="2505456"/>
            <a:ext cx="5120640" cy="420624"/>
          </a:xfrm>
          <a:prstGeom prst="roundRect">
            <a:avLst/>
          </a:prstGeom>
          <a:solidFill>
            <a:srgbClr val="F3F7FB"/>
          </a:solidFill>
          <a:ln w="6350">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b="1" sz="1400">
                <a:solidFill>
                  <a:srgbClr val="1F4E79"/>
                </a:solidFill>
              </a:rPr>
              <a:t>3. </a:t>
            </a:r>
            <a:r>
              <a:rPr sz="1400">
                <a:solidFill>
                  <a:srgbClr val="222222"/>
                </a:solidFill>
              </a:rPr>
              <a:t>Feature engineering (~370 features)</a:t>
            </a:r>
          </a:p>
        </p:txBody>
      </p:sp>
      <p:sp>
        <p:nvSpPr>
          <p:cNvPr id="9" name="Rounded Rectangle 8"/>
          <p:cNvSpPr/>
          <p:nvPr/>
        </p:nvSpPr>
        <p:spPr>
          <a:xfrm>
            <a:off x="777240" y="2980944"/>
            <a:ext cx="5120640" cy="420624"/>
          </a:xfrm>
          <a:prstGeom prst="roundRect">
            <a:avLst/>
          </a:prstGeom>
          <a:solidFill>
            <a:srgbClr val="E6EFF7"/>
          </a:solidFill>
          <a:ln w="6350">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b="1" sz="1400">
                <a:solidFill>
                  <a:srgbClr val="1F4E79"/>
                </a:solidFill>
              </a:rPr>
              <a:t>4. </a:t>
            </a:r>
            <a:r>
              <a:rPr sz="1400">
                <a:solidFill>
                  <a:srgbClr val="222222"/>
                </a:solidFill>
              </a:rPr>
              <a:t>Preprocessing pipeline (4 transformer groups)</a:t>
            </a:r>
          </a:p>
        </p:txBody>
      </p:sp>
      <p:sp>
        <p:nvSpPr>
          <p:cNvPr id="10" name="Rounded Rectangle 9"/>
          <p:cNvSpPr/>
          <p:nvPr/>
        </p:nvSpPr>
        <p:spPr>
          <a:xfrm>
            <a:off x="777240" y="3456432"/>
            <a:ext cx="5120640" cy="420624"/>
          </a:xfrm>
          <a:prstGeom prst="roundRect">
            <a:avLst/>
          </a:prstGeom>
          <a:solidFill>
            <a:srgbClr val="F3F7FB"/>
          </a:solidFill>
          <a:ln w="6350">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b="1" sz="1400">
                <a:solidFill>
                  <a:srgbClr val="1F4E79"/>
                </a:solidFill>
              </a:rPr>
              <a:t>5. </a:t>
            </a:r>
            <a:r>
              <a:rPr sz="1400">
                <a:solidFill>
                  <a:srgbClr val="222222"/>
                </a:solidFill>
              </a:rPr>
              <a:t>Baseline 5-fold CV across 6 models</a:t>
            </a:r>
          </a:p>
        </p:txBody>
      </p:sp>
      <p:sp>
        <p:nvSpPr>
          <p:cNvPr id="11" name="Rounded Rectangle 10"/>
          <p:cNvSpPr/>
          <p:nvPr/>
        </p:nvSpPr>
        <p:spPr>
          <a:xfrm>
            <a:off x="777240" y="3931920"/>
            <a:ext cx="5120640" cy="420624"/>
          </a:xfrm>
          <a:prstGeom prst="roundRect">
            <a:avLst/>
          </a:prstGeom>
          <a:solidFill>
            <a:srgbClr val="E6EFF7"/>
          </a:solidFill>
          <a:ln w="6350">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b="1" sz="1400">
                <a:solidFill>
                  <a:srgbClr val="1F4E79"/>
                </a:solidFill>
              </a:rPr>
              <a:t>6. </a:t>
            </a:r>
            <a:r>
              <a:rPr sz="1400">
                <a:solidFill>
                  <a:srgbClr val="222222"/>
                </a:solidFill>
              </a:rPr>
              <a:t>Grid search on SVR-RBF and ElasticNet</a:t>
            </a:r>
          </a:p>
        </p:txBody>
      </p:sp>
      <p:sp>
        <p:nvSpPr>
          <p:cNvPr id="12" name="Rounded Rectangle 11"/>
          <p:cNvSpPr/>
          <p:nvPr/>
        </p:nvSpPr>
        <p:spPr>
          <a:xfrm>
            <a:off x="777240" y="4407408"/>
            <a:ext cx="5120640" cy="420624"/>
          </a:xfrm>
          <a:prstGeom prst="roundRect">
            <a:avLst/>
          </a:prstGeom>
          <a:solidFill>
            <a:srgbClr val="F3F7FB"/>
          </a:solidFill>
          <a:ln w="6350">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b="1" sz="1400">
                <a:solidFill>
                  <a:srgbClr val="1F4E79"/>
                </a:solidFill>
              </a:rPr>
              <a:t>7. </a:t>
            </a:r>
            <a:r>
              <a:rPr sz="1400">
                <a:solidFill>
                  <a:srgbClr val="222222"/>
                </a:solidFill>
              </a:rPr>
              <a:t>Validation set decides smearing + ensemble weight</a:t>
            </a:r>
          </a:p>
        </p:txBody>
      </p:sp>
      <p:sp>
        <p:nvSpPr>
          <p:cNvPr id="13" name="Rounded Rectangle 12"/>
          <p:cNvSpPr/>
          <p:nvPr/>
        </p:nvSpPr>
        <p:spPr>
          <a:xfrm>
            <a:off x="777240" y="4882896"/>
            <a:ext cx="5120640" cy="420624"/>
          </a:xfrm>
          <a:prstGeom prst="roundRect">
            <a:avLst/>
          </a:prstGeom>
          <a:solidFill>
            <a:srgbClr val="E6EFF7"/>
          </a:solidFill>
          <a:ln w="6350">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b="1" sz="1400">
                <a:solidFill>
                  <a:srgbClr val="1F4E79"/>
                </a:solidFill>
              </a:rPr>
              <a:t>8. </a:t>
            </a:r>
            <a:r>
              <a:rPr sz="1400">
                <a:solidFill>
                  <a:srgbClr val="222222"/>
                </a:solidFill>
              </a:rPr>
              <a:t>Final refit on full labelled data</a:t>
            </a:r>
          </a:p>
        </p:txBody>
      </p:sp>
      <p:sp>
        <p:nvSpPr>
          <p:cNvPr id="14" name="TextBox 13"/>
          <p:cNvSpPr txBox="1"/>
          <p:nvPr/>
        </p:nvSpPr>
        <p:spPr>
          <a:xfrm>
            <a:off x="6400800" y="1508760"/>
            <a:ext cx="5303520" cy="365760"/>
          </a:xfrm>
          <a:prstGeom prst="rect">
            <a:avLst/>
          </a:prstGeom>
          <a:noFill/>
        </p:spPr>
        <p:txBody>
          <a:bodyPr wrap="square" lIns="0" rIns="0" tIns="0" bIns="0" anchor="t">
            <a:spAutoFit/>
          </a:bodyPr>
          <a:lstStyle/>
          <a:p>
            <a:pPr algn="l"/>
            <a:r>
              <a:rPr sz="1800" b="1">
                <a:solidFill>
                  <a:srgbClr val="1F4E79"/>
                </a:solidFill>
                <a:latin typeface="Calibri"/>
              </a:rPr>
              <a:t>Three decisions that shaped the model</a:t>
            </a:r>
          </a:p>
        </p:txBody>
      </p:sp>
      <p:sp>
        <p:nvSpPr>
          <p:cNvPr id="15" name="TextBox 14"/>
          <p:cNvSpPr txBox="1"/>
          <p:nvPr/>
        </p:nvSpPr>
        <p:spPr>
          <a:xfrm>
            <a:off x="6400800" y="1965960"/>
            <a:ext cx="5303520" cy="4114800"/>
          </a:xfrm>
          <a:prstGeom prst="rect">
            <a:avLst/>
          </a:prstGeom>
          <a:noFill/>
        </p:spPr>
        <p:txBody>
          <a:bodyPr wrap="square" lIns="0" rIns="0" tIns="0" bIns="0">
            <a:spAutoFit/>
          </a:bodyPr>
          <a:lstStyle/>
          <a:p>
            <a:pPr>
              <a:spcAft>
                <a:spcPts val="1200"/>
              </a:spcAft>
            </a:pPr>
            <a:r>
              <a:rPr sz="1300" b="1">
                <a:solidFill>
                  <a:srgbClr val="1F4E79"/>
                </a:solidFill>
              </a:rPr>
              <a:t>●  </a:t>
            </a:r>
            <a:r>
              <a:rPr sz="1500" b="1">
                <a:solidFill>
                  <a:srgbClr val="222222"/>
                </a:solidFill>
              </a:rPr>
              <a:t>R17 cleaning.</a:t>
            </a:r>
            <a:r>
              <a:rPr sz="1500">
                <a:solidFill>
                  <a:srgbClr val="222222"/>
                </a:solidFill>
              </a:rPr>
              <a:t> Drop currency-mixed outliers (both tails) from training only.</a:t>
            </a:r>
          </a:p>
          <a:p>
            <a:pPr>
              <a:spcAft>
                <a:spcPts val="1200"/>
              </a:spcAft>
            </a:pPr>
            <a:r>
              <a:rPr sz="1300" b="1">
                <a:solidFill>
                  <a:srgbClr val="1F4E79"/>
                </a:solidFill>
              </a:rPr>
              <a:t>●  </a:t>
            </a:r>
            <a:r>
              <a:rPr sz="1500" b="1">
                <a:solidFill>
                  <a:srgbClr val="222222"/>
                </a:solidFill>
              </a:rPr>
              <a:t>Log target.</a:t>
            </a:r>
            <a:r>
              <a:rPr sz="1500">
                <a:solidFill>
                  <a:srgbClr val="222222"/>
                </a:solidFill>
              </a:rPr>
              <a:t> Model log1p(salary); apply Duan's smearing on back-transform only when validation says so.</a:t>
            </a:r>
          </a:p>
          <a:p>
            <a:pPr>
              <a:spcAft>
                <a:spcPts val="1200"/>
              </a:spcAft>
            </a:pPr>
            <a:r>
              <a:rPr sz="1300" b="1">
                <a:solidFill>
                  <a:srgbClr val="1F4E79"/>
                </a:solidFill>
              </a:rPr>
              <a:t>●  </a:t>
            </a:r>
            <a:r>
              <a:rPr sz="1500" b="1">
                <a:solidFill>
                  <a:srgbClr val="222222"/>
                </a:solidFill>
              </a:rPr>
              <a:t>Ensemble.</a:t>
            </a:r>
            <a:r>
              <a:rPr sz="1500">
                <a:solidFill>
                  <a:srgbClr val="222222"/>
                </a:solidFill>
              </a:rPr>
              <a:t> Linear combination of SVR-RBF and ElasticNet, weight learned on the validation split.</a:t>
            </a:r>
          </a:p>
        </p:txBody>
      </p:sp>
      <p:sp>
        <p:nvSpPr>
          <p:cNvPr id="16" name="TextBox 15"/>
          <p:cNvSpPr txBox="1"/>
          <p:nvPr/>
        </p:nvSpPr>
        <p:spPr>
          <a:xfrm>
            <a:off x="457200" y="6446520"/>
            <a:ext cx="7315200" cy="274320"/>
          </a:xfrm>
          <a:prstGeom prst="rect">
            <a:avLst/>
          </a:prstGeom>
          <a:noFill/>
        </p:spPr>
        <p:txBody>
          <a:bodyPr wrap="square" lIns="0" rIns="0" tIns="0" bIns="0" anchor="t">
            <a:spAutoFit/>
          </a:bodyPr>
          <a:lstStyle/>
          <a:p>
            <a:pPr algn="l"/>
            <a:r>
              <a:rPr sz="1000" b="0">
                <a:solidFill>
                  <a:srgbClr val="555555"/>
                </a:solidFill>
                <a:latin typeface="Calibri"/>
              </a:rPr>
              <a:t>ML1 (2026) — Task 2: Developer Salary Prediction</a:t>
            </a:r>
          </a:p>
        </p:txBody>
      </p:sp>
      <p:sp>
        <p:nvSpPr>
          <p:cNvPr id="17" name="TextBox 16"/>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555555"/>
                </a:solidFill>
                <a:latin typeface="Calibri"/>
              </a:rP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164592"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594360"/>
          </a:xfrm>
          <a:prstGeom prst="rect">
            <a:avLst/>
          </a:prstGeom>
          <a:noFill/>
        </p:spPr>
        <p:txBody>
          <a:bodyPr wrap="square" lIns="0" rIns="0" tIns="0" bIns="0" anchor="t">
            <a:spAutoFit/>
          </a:bodyPr>
          <a:lstStyle/>
          <a:p>
            <a:pPr algn="l"/>
            <a:r>
              <a:rPr sz="3000" b="1">
                <a:solidFill>
                  <a:srgbClr val="1F4E79"/>
                </a:solidFill>
                <a:latin typeface="Calibri"/>
              </a:rPr>
              <a:t>Target distribution</a:t>
            </a:r>
          </a:p>
        </p:txBody>
      </p:sp>
      <p:sp>
        <p:nvSpPr>
          <p:cNvPr id="5" name="TextBox 4"/>
          <p:cNvSpPr txBox="1"/>
          <p:nvPr/>
        </p:nvSpPr>
        <p:spPr>
          <a:xfrm>
            <a:off x="777240" y="914400"/>
            <a:ext cx="10515600" cy="411480"/>
          </a:xfrm>
          <a:prstGeom prst="rect">
            <a:avLst/>
          </a:prstGeom>
          <a:noFill/>
        </p:spPr>
        <p:txBody>
          <a:bodyPr wrap="square" lIns="0" rIns="0" tIns="0" bIns="0" anchor="t">
            <a:spAutoFit/>
          </a:bodyPr>
          <a:lstStyle/>
          <a:p>
            <a:pPr algn="l"/>
            <a:r>
              <a:rPr sz="1600" b="0">
                <a:solidFill>
                  <a:srgbClr val="555555"/>
                </a:solidFill>
                <a:latin typeface="Calibri"/>
              </a:rPr>
              <a:t>Raw target is extreme; we model log1p(salary)</a:t>
            </a:r>
          </a:p>
        </p:txBody>
      </p:sp>
      <p:sp>
        <p:nvSpPr>
          <p:cNvPr id="6" name="TextBox 5"/>
          <p:cNvSpPr txBox="1"/>
          <p:nvPr/>
        </p:nvSpPr>
        <p:spPr>
          <a:xfrm>
            <a:off x="777240" y="1554480"/>
            <a:ext cx="4846320" cy="4114800"/>
          </a:xfrm>
          <a:prstGeom prst="rect">
            <a:avLst/>
          </a:prstGeom>
          <a:noFill/>
        </p:spPr>
        <p:txBody>
          <a:bodyPr wrap="square" lIns="0" rIns="0" tIns="0" bIns="0">
            <a:spAutoFit/>
          </a:bodyPr>
          <a:lstStyle/>
          <a:p>
            <a:pPr>
              <a:spcAft>
                <a:spcPts val="1000"/>
              </a:spcAft>
            </a:pPr>
            <a:r>
              <a:rPr sz="1300" b="1">
                <a:solidFill>
                  <a:srgbClr val="1F4E79"/>
                </a:solidFill>
              </a:rPr>
              <a:t>●  </a:t>
            </a:r>
            <a:r>
              <a:rPr sz="1500" b="1">
                <a:solidFill>
                  <a:srgbClr val="222222"/>
                </a:solidFill>
              </a:rPr>
              <a:t>Skewness 33+.</a:t>
            </a:r>
            <a:r>
              <a:rPr sz="1500">
                <a:solidFill>
                  <a:srgbClr val="222222"/>
                </a:solidFill>
              </a:rPr>
              <a:t> A handful of high-salary rows dominate the raw distribution.</a:t>
            </a:r>
          </a:p>
          <a:p>
            <a:pPr>
              <a:spcAft>
                <a:spcPts val="1000"/>
              </a:spcAft>
            </a:pPr>
            <a:r>
              <a:rPr sz="1300" b="1">
                <a:solidFill>
                  <a:srgbClr val="1F4E79"/>
                </a:solidFill>
              </a:rPr>
              <a:t>●  </a:t>
            </a:r>
            <a:r>
              <a:rPr sz="1500" b="1">
                <a:solidFill>
                  <a:srgbClr val="222222"/>
                </a:solidFill>
              </a:rPr>
              <a:t>Range $1 to $4.77M.</a:t>
            </a:r>
            <a:r>
              <a:rPr sz="1500">
                <a:solidFill>
                  <a:srgbClr val="222222"/>
                </a:solidFill>
              </a:rPr>
              <a:t> Most reports look reasonable; the extremes do not.</a:t>
            </a:r>
          </a:p>
          <a:p>
            <a:pPr>
              <a:spcAft>
                <a:spcPts val="1000"/>
              </a:spcAft>
            </a:pPr>
            <a:r>
              <a:rPr sz="1300" b="1">
                <a:solidFill>
                  <a:srgbClr val="1F4E79"/>
                </a:solidFill>
              </a:rPr>
              <a:t>●  </a:t>
            </a:r>
            <a:r>
              <a:rPr sz="1500" b="1">
                <a:solidFill>
                  <a:srgbClr val="222222"/>
                </a:solidFill>
              </a:rPr>
              <a:t>Log-transform fixes skewness.</a:t>
            </a:r>
            <a:r>
              <a:rPr sz="1500">
                <a:solidFill>
                  <a:srgbClr val="222222"/>
                </a:solidFill>
              </a:rPr>
              <a:t> log1p(salary) is roughly symmetric and stabilises every linear model in the syllabus.</a:t>
            </a:r>
          </a:p>
          <a:p>
            <a:pPr>
              <a:spcAft>
                <a:spcPts val="1000"/>
              </a:spcAft>
            </a:pPr>
            <a:r>
              <a:rPr sz="1300" b="1">
                <a:solidFill>
                  <a:srgbClr val="1F4E79"/>
                </a:solidFill>
              </a:rPr>
              <a:t>●  </a:t>
            </a:r>
            <a:r>
              <a:rPr sz="1500" b="1">
                <a:solidFill>
                  <a:srgbClr val="222222"/>
                </a:solidFill>
              </a:rPr>
              <a:t>Implication for evaluation.</a:t>
            </a:r>
            <a:r>
              <a:rPr sz="1500">
                <a:solidFill>
                  <a:srgbClr val="222222"/>
                </a:solidFill>
              </a:rPr>
              <a:t> RMSE is reported on the raw dollar scale; predictions are back-transformed before measuring.</a:t>
            </a:r>
          </a:p>
        </p:txBody>
      </p:sp>
      <p:sp>
        <p:nvSpPr>
          <p:cNvPr id="7" name="Rectangle 6"/>
          <p:cNvSpPr/>
          <p:nvPr/>
        </p:nvSpPr>
        <p:spPr>
          <a:xfrm>
            <a:off x="6035040" y="1554480"/>
            <a:ext cx="5669280" cy="4297680"/>
          </a:xfrm>
          <a:prstGeom prst="rect">
            <a:avLst/>
          </a:prstGeom>
          <a:noFill/>
          <a:ln w="19050">
            <a:solidFill>
              <a:srgbClr val="4F81BD"/>
            </a:solidFill>
            <a:prstDash val="lgDash"/>
          </a:ln>
        </p:spPr>
        <p:style>
          <a:lnRef idx="1">
            <a:schemeClr val="accent1"/>
          </a:lnRef>
          <a:fillRef idx="3">
            <a:schemeClr val="accent1"/>
          </a:fillRef>
          <a:effectRef idx="2">
            <a:schemeClr val="accent1"/>
          </a:effectRef>
          <a:fontRef idx="minor">
            <a:schemeClr val="lt1"/>
          </a:fontRef>
        </p:style>
        <p:txBody>
          <a:bodyPr rtlCol="0" anchor="ctr" lIns="50000" rIns="50000"/>
          <a:lstStyle/>
          <a:p>
            <a:pPr algn="ctr"/>
            <a:r>
              <a:rPr sz="1600" i="1">
                <a:solidFill>
                  <a:srgbClr val="4F81BD"/>
                </a:solidFill>
              </a:rPr>
              <a:t>[ paste your raw / log distribution figure here ]</a:t>
            </a:r>
          </a:p>
        </p:txBody>
      </p: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1000" b="0">
                <a:solidFill>
                  <a:srgbClr val="555555"/>
                </a:solidFill>
                <a:latin typeface="Calibri"/>
              </a:rPr>
              <a:t>ML1 (2026) — Task 2: Developer Salary Prediction</a:t>
            </a:r>
          </a:p>
        </p:txBody>
      </p:sp>
      <p:sp>
        <p:nvSpPr>
          <p:cNvPr id="9" name="TextBox 8"/>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555555"/>
                </a:solidFill>
                <a:latin typeface="Calibri"/>
              </a:rP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164592"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594360"/>
          </a:xfrm>
          <a:prstGeom prst="rect">
            <a:avLst/>
          </a:prstGeom>
          <a:noFill/>
        </p:spPr>
        <p:txBody>
          <a:bodyPr wrap="square" lIns="0" rIns="0" tIns="0" bIns="0" anchor="t">
            <a:spAutoFit/>
          </a:bodyPr>
          <a:lstStyle/>
          <a:p>
            <a:pPr algn="l"/>
            <a:r>
              <a:rPr sz="3000" b="1">
                <a:solidFill>
                  <a:srgbClr val="1F4E79"/>
                </a:solidFill>
                <a:latin typeface="Calibri"/>
              </a:rPr>
              <a:t>R17: the one decision that mattered most</a:t>
            </a:r>
          </a:p>
        </p:txBody>
      </p:sp>
      <p:sp>
        <p:nvSpPr>
          <p:cNvPr id="5" name="TextBox 4"/>
          <p:cNvSpPr txBox="1"/>
          <p:nvPr/>
        </p:nvSpPr>
        <p:spPr>
          <a:xfrm>
            <a:off x="777240" y="914400"/>
            <a:ext cx="10515600" cy="411480"/>
          </a:xfrm>
          <a:prstGeom prst="rect">
            <a:avLst/>
          </a:prstGeom>
          <a:noFill/>
        </p:spPr>
        <p:txBody>
          <a:bodyPr wrap="square" lIns="0" rIns="0" tIns="0" bIns="0" anchor="t">
            <a:spAutoFit/>
          </a:bodyPr>
          <a:lstStyle/>
          <a:p>
            <a:pPr algn="l"/>
            <a:r>
              <a:rPr sz="1600" b="0">
                <a:solidFill>
                  <a:srgbClr val="555555"/>
                </a:solidFill>
                <a:latin typeface="Calibri"/>
              </a:rPr>
              <a:t>Three cleaning strategies compared on held-out validation RMSE</a:t>
            </a:r>
          </a:p>
        </p:txBody>
      </p:sp>
      <p:pic>
        <p:nvPicPr>
          <p:cNvPr id="6" name="Picture 5" descr="chart_cleaning.png"/>
          <p:cNvPicPr>
            <a:picLocks noChangeAspect="1"/>
          </p:cNvPicPr>
          <p:nvPr/>
        </p:nvPicPr>
        <p:blipFill>
          <a:blip r:embed="rId2"/>
          <a:stretch>
            <a:fillRect/>
          </a:stretch>
        </p:blipFill>
        <p:spPr>
          <a:xfrm>
            <a:off x="777240" y="1463040"/>
            <a:ext cx="6400800" cy="3336587"/>
          </a:xfrm>
          <a:prstGeom prst="rect">
            <a:avLst/>
          </a:prstGeom>
        </p:spPr>
      </p:pic>
      <p:sp>
        <p:nvSpPr>
          <p:cNvPr id="7" name="TextBox 6"/>
          <p:cNvSpPr txBox="1"/>
          <p:nvPr/>
        </p:nvSpPr>
        <p:spPr>
          <a:xfrm>
            <a:off x="7406640" y="1417320"/>
            <a:ext cx="4297680" cy="365760"/>
          </a:xfrm>
          <a:prstGeom prst="rect">
            <a:avLst/>
          </a:prstGeom>
          <a:noFill/>
        </p:spPr>
        <p:txBody>
          <a:bodyPr wrap="square" lIns="0" rIns="0" tIns="0" bIns="0" anchor="t">
            <a:spAutoFit/>
          </a:bodyPr>
          <a:lstStyle/>
          <a:p>
            <a:pPr algn="l"/>
            <a:r>
              <a:rPr sz="1600" b="1">
                <a:solidFill>
                  <a:srgbClr val="1F4E79"/>
                </a:solidFill>
                <a:latin typeface="Calibri"/>
              </a:rPr>
              <a:t>Why the surgical filter wins</a:t>
            </a:r>
          </a:p>
        </p:txBody>
      </p:sp>
      <p:sp>
        <p:nvSpPr>
          <p:cNvPr id="8" name="TextBox 7"/>
          <p:cNvSpPr txBox="1"/>
          <p:nvPr/>
        </p:nvSpPr>
        <p:spPr>
          <a:xfrm>
            <a:off x="7406640" y="1828800"/>
            <a:ext cx="4297680" cy="4297680"/>
          </a:xfrm>
          <a:prstGeom prst="rect">
            <a:avLst/>
          </a:prstGeom>
          <a:noFill/>
        </p:spPr>
        <p:txBody>
          <a:bodyPr wrap="square" lIns="0" rIns="0" tIns="0" bIns="0">
            <a:spAutoFit/>
          </a:bodyPr>
          <a:lstStyle/>
          <a:p>
            <a:pPr>
              <a:spcAft>
                <a:spcPts val="800"/>
              </a:spcAft>
            </a:pPr>
            <a:r>
              <a:rPr sz="1000" b="1">
                <a:solidFill>
                  <a:srgbClr val="1F4E79"/>
                </a:solidFill>
              </a:rPr>
              <a:t>●  </a:t>
            </a:r>
            <a:r>
              <a:rPr sz="1200">
                <a:solidFill>
                  <a:srgbClr val="222222"/>
                </a:solidFill>
              </a:rPr>
              <a:t>R17 is bimodal: plausible salaries up to ~$240K, then a small cluster at $1M+ that almost certainly reflects local-currency reports.</a:t>
            </a:r>
          </a:p>
          <a:p>
            <a:pPr>
              <a:spcAft>
                <a:spcPts val="800"/>
              </a:spcAft>
            </a:pPr>
            <a:r>
              <a:rPr sz="1000" b="1">
                <a:solidFill>
                  <a:srgbClr val="1F4E79"/>
                </a:solidFill>
              </a:rPr>
              <a:t>●  </a:t>
            </a:r>
            <a:r>
              <a:rPr sz="1200">
                <a:solidFill>
                  <a:srgbClr val="222222"/>
                </a:solidFill>
              </a:rPr>
              <a:t>Blanket P99 also clips legitimate high earners in other regions, hurting predictions on rows we should get right.</a:t>
            </a:r>
          </a:p>
          <a:p>
            <a:pPr>
              <a:spcAft>
                <a:spcPts val="800"/>
              </a:spcAft>
            </a:pPr>
            <a:r>
              <a:rPr sz="1000" b="1">
                <a:solidFill>
                  <a:srgbClr val="1F4E79"/>
                </a:solidFill>
              </a:rPr>
              <a:t>●  </a:t>
            </a:r>
            <a:r>
              <a:rPr sz="1200">
                <a:solidFill>
                  <a:srgbClr val="222222"/>
                </a:solidFill>
              </a:rPr>
              <a:t>A targeted drop on R17 only (below $500 and above $500K) removes 3 contaminated rows without touching real high earners.</a:t>
            </a:r>
          </a:p>
          <a:p>
            <a:pPr>
              <a:spcAft>
                <a:spcPts val="800"/>
              </a:spcAft>
            </a:pPr>
            <a:r>
              <a:rPr sz="1000" b="1">
                <a:solidFill>
                  <a:srgbClr val="1F4E79"/>
                </a:solidFill>
              </a:rPr>
              <a:t>●  </a:t>
            </a:r>
            <a:r>
              <a:rPr sz="1200" b="1">
                <a:solidFill>
                  <a:srgbClr val="222222"/>
                </a:solidFill>
              </a:rPr>
              <a:t>Result:</a:t>
            </a:r>
            <a:r>
              <a:rPr sz="1200">
                <a:solidFill>
                  <a:srgbClr val="222222"/>
                </a:solidFill>
              </a:rPr>
              <a:t> lowest validation RMSE, on a validation split that was itself never cleaned.</a:t>
            </a:r>
          </a:p>
        </p:txBody>
      </p:sp>
      <p:sp>
        <p:nvSpPr>
          <p:cNvPr id="9" name="TextBox 8"/>
          <p:cNvSpPr txBox="1"/>
          <p:nvPr/>
        </p:nvSpPr>
        <p:spPr>
          <a:xfrm>
            <a:off x="457200" y="6446520"/>
            <a:ext cx="7315200" cy="274320"/>
          </a:xfrm>
          <a:prstGeom prst="rect">
            <a:avLst/>
          </a:prstGeom>
          <a:noFill/>
        </p:spPr>
        <p:txBody>
          <a:bodyPr wrap="square" lIns="0" rIns="0" tIns="0" bIns="0" anchor="t">
            <a:spAutoFit/>
          </a:bodyPr>
          <a:lstStyle/>
          <a:p>
            <a:pPr algn="l"/>
            <a:r>
              <a:rPr sz="1000" b="0">
                <a:solidFill>
                  <a:srgbClr val="555555"/>
                </a:solidFill>
                <a:latin typeface="Calibri"/>
              </a:rPr>
              <a:t>ML1 (2026) — Task 2: Developer Salary Prediction</a:t>
            </a:r>
          </a:p>
        </p:txBody>
      </p:sp>
      <p:sp>
        <p:nvSpPr>
          <p:cNvPr id="10" name="TextBox 9"/>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555555"/>
                </a:solidFill>
                <a:latin typeface="Calibri"/>
              </a:rP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164592"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594360"/>
          </a:xfrm>
          <a:prstGeom prst="rect">
            <a:avLst/>
          </a:prstGeom>
          <a:noFill/>
        </p:spPr>
        <p:txBody>
          <a:bodyPr wrap="square" lIns="0" rIns="0" tIns="0" bIns="0" anchor="t">
            <a:spAutoFit/>
          </a:bodyPr>
          <a:lstStyle/>
          <a:p>
            <a:pPr algn="l"/>
            <a:r>
              <a:rPr sz="3000" b="1">
                <a:solidFill>
                  <a:srgbClr val="1F4E79"/>
                </a:solidFill>
                <a:latin typeface="Calibri"/>
              </a:rPr>
              <a:t>Feature engineering</a:t>
            </a:r>
          </a:p>
        </p:txBody>
      </p:sp>
      <p:sp>
        <p:nvSpPr>
          <p:cNvPr id="5" name="TextBox 4"/>
          <p:cNvSpPr txBox="1"/>
          <p:nvPr/>
        </p:nvSpPr>
        <p:spPr>
          <a:xfrm>
            <a:off x="777240" y="914400"/>
            <a:ext cx="10515600" cy="411480"/>
          </a:xfrm>
          <a:prstGeom prst="rect">
            <a:avLst/>
          </a:prstGeom>
          <a:noFill/>
        </p:spPr>
        <p:txBody>
          <a:bodyPr wrap="square" lIns="0" rIns="0" tIns="0" bIns="0" anchor="t">
            <a:spAutoFit/>
          </a:bodyPr>
          <a:lstStyle/>
          <a:p>
            <a:pPr algn="l"/>
            <a:r>
              <a:rPr sz="1600" b="0">
                <a:solidFill>
                  <a:srgbClr val="555555"/>
                </a:solidFill>
                <a:latin typeface="Calibri"/>
              </a:rPr>
              <a:t>From 41 raw columns to ~370 model inputs, no leakage</a:t>
            </a:r>
          </a:p>
        </p:txBody>
      </p:sp>
      <p:sp>
        <p:nvSpPr>
          <p:cNvPr id="6" name="TextBox 5"/>
          <p:cNvSpPr txBox="1"/>
          <p:nvPr/>
        </p:nvSpPr>
        <p:spPr>
          <a:xfrm>
            <a:off x="777240" y="1554480"/>
            <a:ext cx="10698480" cy="4572000"/>
          </a:xfrm>
          <a:prstGeom prst="rect">
            <a:avLst/>
          </a:prstGeom>
          <a:noFill/>
        </p:spPr>
        <p:txBody>
          <a:bodyPr wrap="square" lIns="0" rIns="0" tIns="0" bIns="0">
            <a:spAutoFit/>
          </a:bodyPr>
          <a:lstStyle/>
          <a:p>
            <a:pPr>
              <a:spcAft>
                <a:spcPts val="1000"/>
              </a:spcAft>
            </a:pPr>
            <a:r>
              <a:rPr sz="1200" b="1">
                <a:solidFill>
                  <a:srgbClr val="1F4E79"/>
                </a:solidFill>
              </a:rPr>
              <a:t>●  </a:t>
            </a:r>
            <a:r>
              <a:rPr sz="1400" b="1">
                <a:solidFill>
                  <a:srgbClr val="222222"/>
                </a:solidFill>
              </a:rPr>
              <a:t>Experience curve.</a:t>
            </a:r>
            <a:r>
              <a:rPr sz="1400">
                <a:solidFill>
                  <a:srgbClr val="222222"/>
                </a:solidFill>
              </a:rPr>
              <a:t> Drop redundant `coding.years.total` (r=0.86 with professional years); add quadratic and log1p terms on the two kept columns to capture diminishing returns.</a:t>
            </a:r>
          </a:p>
          <a:p>
            <a:pPr>
              <a:spcAft>
                <a:spcPts val="1000"/>
              </a:spcAft>
            </a:pPr>
            <a:r>
              <a:rPr sz="1200" b="1">
                <a:solidFill>
                  <a:srgbClr val="1F4E79"/>
                </a:solidFill>
              </a:rPr>
              <a:t>●  </a:t>
            </a:r>
            <a:r>
              <a:rPr sz="1400" b="1">
                <a:solidFill>
                  <a:srgbClr val="222222"/>
                </a:solidFill>
              </a:rPr>
              <a:t>Seniority signal.</a:t>
            </a:r>
            <a:r>
              <a:rPr sz="1400">
                <a:solidFill>
                  <a:srgbClr val="222222"/>
                </a:solidFill>
              </a:rPr>
              <a:t> Binary flags extracted from `dev.role` for Senior / Lead / Manager / Junior / Principal / Architect / Director / Executive / Staff / VP.</a:t>
            </a:r>
          </a:p>
          <a:p>
            <a:pPr>
              <a:spcAft>
                <a:spcPts val="1000"/>
              </a:spcAft>
            </a:pPr>
            <a:r>
              <a:rPr sz="1200" b="1">
                <a:solidFill>
                  <a:srgbClr val="1F4E79"/>
                </a:solidFill>
              </a:rPr>
              <a:t>●  </a:t>
            </a:r>
            <a:r>
              <a:rPr sz="1400" b="1">
                <a:solidFill>
                  <a:srgbClr val="222222"/>
                </a:solidFill>
              </a:rPr>
              <a:t>Technology breadth.</a:t>
            </a:r>
            <a:r>
              <a:rPr sz="1400">
                <a:solidFill>
                  <a:srgbClr val="222222"/>
                </a:solidFill>
              </a:rPr>
              <a:t> For each of the 15 multi-select columns: a per-column count and binary indicators for the top 25 items observed in training. Plus a global `tech_breadth_total` aggregate (useful to the non-linear SVR).</a:t>
            </a:r>
          </a:p>
          <a:p>
            <a:pPr>
              <a:spcAft>
                <a:spcPts val="1000"/>
              </a:spcAft>
            </a:pPr>
            <a:r>
              <a:rPr sz="1200" b="1">
                <a:solidFill>
                  <a:srgbClr val="1F4E79"/>
                </a:solidFill>
              </a:rPr>
              <a:t>●  </a:t>
            </a:r>
            <a:r>
              <a:rPr sz="1400" b="1">
                <a:solidFill>
                  <a:srgbClr val="222222"/>
                </a:solidFill>
              </a:rPr>
              <a:t>Informative missingness.</a:t>
            </a:r>
            <a:r>
              <a:rPr sz="1400">
                <a:solidFill>
                  <a:srgbClr val="222222"/>
                </a:solidFill>
              </a:rPr>
              <a:t> AI-related columns are only shown to AI users; missingness itself carries salary signal. Added a binary `miss_*` flag for every column with more than 10% missing values in training.</a:t>
            </a:r>
          </a:p>
          <a:p>
            <a:pPr>
              <a:spcAft>
                <a:spcPts val="1000"/>
              </a:spcAft>
            </a:pPr>
            <a:r>
              <a:rPr sz="1200" b="1">
                <a:solidFill>
                  <a:srgbClr val="1F4E79"/>
                </a:solidFill>
              </a:rPr>
              <a:t>●  </a:t>
            </a:r>
            <a:r>
              <a:rPr sz="1400" b="1">
                <a:solidFill>
                  <a:srgbClr val="222222"/>
                </a:solidFill>
              </a:rPr>
              <a:t>Region x company size interaction.</a:t>
            </a:r>
            <a:r>
              <a:rPr sz="1400">
                <a:solidFill>
                  <a:srgbClr val="222222"/>
                </a:solidFill>
              </a:rPr>
              <a:t> String-concatenated categorical, target-encoded so that company size is allowed to mean different things in different regions.</a:t>
            </a:r>
          </a:p>
        </p:txBody>
      </p:sp>
      <p:sp>
        <p:nvSpPr>
          <p:cNvPr id="7" name="TextBox 6"/>
          <p:cNvSpPr txBox="1"/>
          <p:nvPr/>
        </p:nvSpPr>
        <p:spPr>
          <a:xfrm>
            <a:off x="777240" y="5989320"/>
            <a:ext cx="10698480" cy="365760"/>
          </a:xfrm>
          <a:prstGeom prst="rect">
            <a:avLst/>
          </a:prstGeom>
          <a:noFill/>
        </p:spPr>
        <p:txBody>
          <a:bodyPr wrap="square" lIns="0" rIns="0" tIns="0" bIns="0" anchor="t">
            <a:spAutoFit/>
          </a:bodyPr>
          <a:lstStyle/>
          <a:p>
            <a:pPr algn="l"/>
            <a:r>
              <a:rPr sz="1200" b="0">
                <a:solidFill>
                  <a:srgbClr val="555555"/>
                </a:solidFill>
                <a:latin typeface="Calibri"/>
              </a:rPr>
              <a:t>All data-distribution-dependent rules (top-N tech items, missingness threshold) are fitted on the training split only.</a:t>
            </a:r>
          </a:p>
        </p:txBody>
      </p:sp>
      <p:sp>
        <p:nvSpPr>
          <p:cNvPr id="8" name="TextBox 7"/>
          <p:cNvSpPr txBox="1"/>
          <p:nvPr/>
        </p:nvSpPr>
        <p:spPr>
          <a:xfrm>
            <a:off x="457200" y="6446520"/>
            <a:ext cx="7315200" cy="274320"/>
          </a:xfrm>
          <a:prstGeom prst="rect">
            <a:avLst/>
          </a:prstGeom>
          <a:noFill/>
        </p:spPr>
        <p:txBody>
          <a:bodyPr wrap="square" lIns="0" rIns="0" tIns="0" bIns="0" anchor="t">
            <a:spAutoFit/>
          </a:bodyPr>
          <a:lstStyle/>
          <a:p>
            <a:pPr algn="l"/>
            <a:r>
              <a:rPr sz="1000" b="0">
                <a:solidFill>
                  <a:srgbClr val="555555"/>
                </a:solidFill>
                <a:latin typeface="Calibri"/>
              </a:rPr>
              <a:t>ML1 (2026) — Task 2: Developer Salary Prediction</a:t>
            </a:r>
          </a:p>
        </p:txBody>
      </p:sp>
      <p:sp>
        <p:nvSpPr>
          <p:cNvPr id="9" name="TextBox 8"/>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555555"/>
                </a:solidFill>
                <a:latin typeface="Calibri"/>
              </a:rP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164592"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594360"/>
          </a:xfrm>
          <a:prstGeom prst="rect">
            <a:avLst/>
          </a:prstGeom>
          <a:noFill/>
        </p:spPr>
        <p:txBody>
          <a:bodyPr wrap="square" lIns="0" rIns="0" tIns="0" bIns="0" anchor="t">
            <a:spAutoFit/>
          </a:bodyPr>
          <a:lstStyle/>
          <a:p>
            <a:pPr algn="l"/>
            <a:r>
              <a:rPr sz="3000" b="1">
                <a:solidFill>
                  <a:srgbClr val="1F4E79"/>
                </a:solidFill>
                <a:latin typeface="Calibri"/>
              </a:rPr>
              <a:t>Model selection &amp; final results</a:t>
            </a:r>
          </a:p>
        </p:txBody>
      </p:sp>
      <p:sp>
        <p:nvSpPr>
          <p:cNvPr id="5" name="TextBox 4"/>
          <p:cNvSpPr txBox="1"/>
          <p:nvPr/>
        </p:nvSpPr>
        <p:spPr>
          <a:xfrm>
            <a:off x="777240" y="914400"/>
            <a:ext cx="10515600" cy="411480"/>
          </a:xfrm>
          <a:prstGeom prst="rect">
            <a:avLst/>
          </a:prstGeom>
          <a:noFill/>
        </p:spPr>
        <p:txBody>
          <a:bodyPr wrap="square" lIns="0" rIns="0" tIns="0" bIns="0" anchor="t">
            <a:spAutoFit/>
          </a:bodyPr>
          <a:lstStyle/>
          <a:p>
            <a:pPr algn="l"/>
            <a:r>
              <a:rPr sz="1600" b="0">
                <a:solidFill>
                  <a:srgbClr val="555555"/>
                </a:solidFill>
                <a:latin typeface="Calibri"/>
              </a:rPr>
              <a:t>SVR-RBF wins the baselines; final model is a linear ensemble with ElasticNet</a:t>
            </a:r>
          </a:p>
        </p:txBody>
      </p:sp>
      <p:pic>
        <p:nvPicPr>
          <p:cNvPr id="6" name="Picture 5" descr="chart_baselines.png"/>
          <p:cNvPicPr>
            <a:picLocks noChangeAspect="1"/>
          </p:cNvPicPr>
          <p:nvPr/>
        </p:nvPicPr>
        <p:blipFill>
          <a:blip r:embed="rId2"/>
          <a:stretch>
            <a:fillRect/>
          </a:stretch>
        </p:blipFill>
        <p:spPr>
          <a:xfrm>
            <a:off x="548640" y="1463040"/>
            <a:ext cx="6400800" cy="3336587"/>
          </a:xfrm>
          <a:prstGeom prst="rect">
            <a:avLst/>
          </a:prstGeom>
        </p:spPr>
      </p:pic>
      <p:sp>
        <p:nvSpPr>
          <p:cNvPr id="7" name="Rounded Rectangle 6"/>
          <p:cNvSpPr/>
          <p:nvPr/>
        </p:nvSpPr>
        <p:spPr>
          <a:xfrm>
            <a:off x="7269480" y="1463040"/>
            <a:ext cx="4434840" cy="4663440"/>
          </a:xfrm>
          <a:prstGeom prst="roundRect">
            <a:avLst/>
          </a:prstGeom>
          <a:solidFill>
            <a:srgbClr val="F3F7FB"/>
          </a:solidFill>
          <a:ln w="9525">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00200"/>
            <a:ext cx="4114800" cy="365760"/>
          </a:xfrm>
          <a:prstGeom prst="rect">
            <a:avLst/>
          </a:prstGeom>
          <a:noFill/>
        </p:spPr>
        <p:txBody>
          <a:bodyPr wrap="square" lIns="0" rIns="0" tIns="0" bIns="0" anchor="t">
            <a:spAutoFit/>
          </a:bodyPr>
          <a:lstStyle/>
          <a:p>
            <a:pPr algn="l"/>
            <a:r>
              <a:rPr sz="1600" b="1">
                <a:solidFill>
                  <a:srgbClr val="1F4E79"/>
                </a:solidFill>
                <a:latin typeface="Calibri"/>
              </a:rPr>
              <a:t>Final ensemble</a:t>
            </a:r>
          </a:p>
        </p:txBody>
      </p:sp>
      <p:sp>
        <p:nvSpPr>
          <p:cNvPr id="9" name="TextBox 8"/>
          <p:cNvSpPr txBox="1"/>
          <p:nvPr/>
        </p:nvSpPr>
        <p:spPr>
          <a:xfrm>
            <a:off x="7452360" y="2057400"/>
            <a:ext cx="1828800" cy="320040"/>
          </a:xfrm>
          <a:prstGeom prst="rect">
            <a:avLst/>
          </a:prstGeom>
          <a:noFill/>
        </p:spPr>
        <p:txBody>
          <a:bodyPr wrap="square" lIns="0" rIns="0" tIns="0" bIns="0" anchor="t">
            <a:spAutoFit/>
          </a:bodyPr>
          <a:lstStyle/>
          <a:p>
            <a:pPr algn="l"/>
            <a:r>
              <a:rPr sz="1200" b="0">
                <a:solidFill>
                  <a:srgbClr val="555555"/>
                </a:solidFill>
                <a:latin typeface="Calibri"/>
              </a:rPr>
              <a:t>Model</a:t>
            </a:r>
          </a:p>
        </p:txBody>
      </p:sp>
      <p:sp>
        <p:nvSpPr>
          <p:cNvPr id="10" name="TextBox 9"/>
          <p:cNvSpPr txBox="1"/>
          <p:nvPr/>
        </p:nvSpPr>
        <p:spPr>
          <a:xfrm>
            <a:off x="9281160" y="2057400"/>
            <a:ext cx="2423160" cy="320040"/>
          </a:xfrm>
          <a:prstGeom prst="rect">
            <a:avLst/>
          </a:prstGeom>
          <a:noFill/>
        </p:spPr>
        <p:txBody>
          <a:bodyPr wrap="square" lIns="0" rIns="0" tIns="0" bIns="0" anchor="t">
            <a:spAutoFit/>
          </a:bodyPr>
          <a:lstStyle/>
          <a:p>
            <a:pPr algn="l"/>
            <a:r>
              <a:rPr sz="1200" b="1">
                <a:solidFill>
                  <a:srgbClr val="222222"/>
                </a:solidFill>
                <a:latin typeface="Calibri"/>
              </a:rPr>
              <a:t>0.56 × SVR-RBF + 0.44 × ElasticNet</a:t>
            </a:r>
          </a:p>
        </p:txBody>
      </p:sp>
      <p:sp>
        <p:nvSpPr>
          <p:cNvPr id="11" name="TextBox 10"/>
          <p:cNvSpPr txBox="1"/>
          <p:nvPr/>
        </p:nvSpPr>
        <p:spPr>
          <a:xfrm>
            <a:off x="7452360" y="2441448"/>
            <a:ext cx="1828800" cy="320040"/>
          </a:xfrm>
          <a:prstGeom prst="rect">
            <a:avLst/>
          </a:prstGeom>
          <a:noFill/>
        </p:spPr>
        <p:txBody>
          <a:bodyPr wrap="square" lIns="0" rIns="0" tIns="0" bIns="0" anchor="t">
            <a:spAutoFit/>
          </a:bodyPr>
          <a:lstStyle/>
          <a:p>
            <a:pPr algn="l"/>
            <a:r>
              <a:rPr sz="1200" b="0">
                <a:solidFill>
                  <a:srgbClr val="555555"/>
                </a:solidFill>
                <a:latin typeface="Calibri"/>
              </a:rPr>
              <a:t>SVR-RBF</a:t>
            </a:r>
          </a:p>
        </p:txBody>
      </p:sp>
      <p:sp>
        <p:nvSpPr>
          <p:cNvPr id="12" name="TextBox 11"/>
          <p:cNvSpPr txBox="1"/>
          <p:nvPr/>
        </p:nvSpPr>
        <p:spPr>
          <a:xfrm>
            <a:off x="9281160" y="2441448"/>
            <a:ext cx="2423160" cy="320040"/>
          </a:xfrm>
          <a:prstGeom prst="rect">
            <a:avLst/>
          </a:prstGeom>
          <a:noFill/>
        </p:spPr>
        <p:txBody>
          <a:bodyPr wrap="square" lIns="0" rIns="0" tIns="0" bIns="0" anchor="t">
            <a:spAutoFit/>
          </a:bodyPr>
          <a:lstStyle/>
          <a:p>
            <a:pPr algn="l"/>
            <a:r>
              <a:rPr sz="1200" b="1">
                <a:solidFill>
                  <a:srgbClr val="222222"/>
                </a:solidFill>
                <a:latin typeface="Calibri"/>
              </a:rPr>
              <a:t>C=1.0, ε=0.05, γ=0.001</a:t>
            </a:r>
          </a:p>
        </p:txBody>
      </p:sp>
      <p:sp>
        <p:nvSpPr>
          <p:cNvPr id="13" name="TextBox 12"/>
          <p:cNvSpPr txBox="1"/>
          <p:nvPr/>
        </p:nvSpPr>
        <p:spPr>
          <a:xfrm>
            <a:off x="7452360" y="2825496"/>
            <a:ext cx="1828800" cy="320040"/>
          </a:xfrm>
          <a:prstGeom prst="rect">
            <a:avLst/>
          </a:prstGeom>
          <a:noFill/>
        </p:spPr>
        <p:txBody>
          <a:bodyPr wrap="square" lIns="0" rIns="0" tIns="0" bIns="0" anchor="t">
            <a:spAutoFit/>
          </a:bodyPr>
          <a:lstStyle/>
          <a:p>
            <a:pPr algn="l"/>
            <a:r>
              <a:rPr sz="1200" b="0">
                <a:solidFill>
                  <a:srgbClr val="555555"/>
                </a:solidFill>
                <a:latin typeface="Calibri"/>
              </a:rPr>
              <a:t>ElasticNet</a:t>
            </a:r>
          </a:p>
        </p:txBody>
      </p:sp>
      <p:sp>
        <p:nvSpPr>
          <p:cNvPr id="14" name="TextBox 13"/>
          <p:cNvSpPr txBox="1"/>
          <p:nvPr/>
        </p:nvSpPr>
        <p:spPr>
          <a:xfrm>
            <a:off x="9281160" y="2825496"/>
            <a:ext cx="2423160" cy="320040"/>
          </a:xfrm>
          <a:prstGeom prst="rect">
            <a:avLst/>
          </a:prstGeom>
          <a:noFill/>
        </p:spPr>
        <p:txBody>
          <a:bodyPr wrap="square" lIns="0" rIns="0" tIns="0" bIns="0" anchor="t">
            <a:spAutoFit/>
          </a:bodyPr>
          <a:lstStyle/>
          <a:p>
            <a:pPr algn="l"/>
            <a:r>
              <a:rPr sz="1200" b="1">
                <a:solidFill>
                  <a:srgbClr val="222222"/>
                </a:solidFill>
                <a:latin typeface="Calibri"/>
              </a:rPr>
              <a:t>α=0.03, l1_ratio=0.7</a:t>
            </a:r>
          </a:p>
        </p:txBody>
      </p:sp>
      <p:sp>
        <p:nvSpPr>
          <p:cNvPr id="15" name="TextBox 14"/>
          <p:cNvSpPr txBox="1"/>
          <p:nvPr/>
        </p:nvSpPr>
        <p:spPr>
          <a:xfrm>
            <a:off x="7452360" y="3209544"/>
            <a:ext cx="1828800" cy="320040"/>
          </a:xfrm>
          <a:prstGeom prst="rect">
            <a:avLst/>
          </a:prstGeom>
          <a:noFill/>
        </p:spPr>
        <p:txBody>
          <a:bodyPr wrap="square" lIns="0" rIns="0" tIns="0" bIns="0" anchor="t">
            <a:spAutoFit/>
          </a:bodyPr>
          <a:lstStyle/>
          <a:p>
            <a:pPr algn="l"/>
            <a:r>
              <a:rPr sz="1200" b="0">
                <a:solidFill>
                  <a:srgbClr val="555555"/>
                </a:solidFill>
                <a:latin typeface="Calibri"/>
              </a:rPr>
              <a:t>Smearing (SVR / EN)</a:t>
            </a:r>
          </a:p>
        </p:txBody>
      </p:sp>
      <p:sp>
        <p:nvSpPr>
          <p:cNvPr id="16" name="TextBox 15"/>
          <p:cNvSpPr txBox="1"/>
          <p:nvPr/>
        </p:nvSpPr>
        <p:spPr>
          <a:xfrm>
            <a:off x="9281160" y="3209544"/>
            <a:ext cx="2423160" cy="320040"/>
          </a:xfrm>
          <a:prstGeom prst="rect">
            <a:avLst/>
          </a:prstGeom>
          <a:noFill/>
        </p:spPr>
        <p:txBody>
          <a:bodyPr wrap="square" lIns="0" rIns="0" tIns="0" bIns="0" anchor="t">
            <a:spAutoFit/>
          </a:bodyPr>
          <a:lstStyle/>
          <a:p>
            <a:pPr algn="l"/>
            <a:r>
              <a:rPr sz="1200" b="1">
                <a:solidFill>
                  <a:srgbClr val="222222"/>
                </a:solidFill>
                <a:latin typeface="Calibri"/>
              </a:rPr>
              <a:t>False / True</a:t>
            </a:r>
          </a:p>
        </p:txBody>
      </p:sp>
      <p:sp>
        <p:nvSpPr>
          <p:cNvPr id="17" name="TextBox 16"/>
          <p:cNvSpPr txBox="1"/>
          <p:nvPr/>
        </p:nvSpPr>
        <p:spPr>
          <a:xfrm>
            <a:off x="7452360" y="3593592"/>
            <a:ext cx="1828800" cy="320040"/>
          </a:xfrm>
          <a:prstGeom prst="rect">
            <a:avLst/>
          </a:prstGeom>
          <a:noFill/>
        </p:spPr>
        <p:txBody>
          <a:bodyPr wrap="square" lIns="0" rIns="0" tIns="0" bIns="0" anchor="t">
            <a:spAutoFit/>
          </a:bodyPr>
          <a:lstStyle/>
          <a:p>
            <a:pPr algn="l"/>
            <a:r>
              <a:rPr sz="1200" b="0">
                <a:solidFill>
                  <a:srgbClr val="555555"/>
                </a:solidFill>
                <a:latin typeface="Calibri"/>
              </a:rPr>
              <a:t>Feature matrix</a:t>
            </a:r>
          </a:p>
        </p:txBody>
      </p:sp>
      <p:sp>
        <p:nvSpPr>
          <p:cNvPr id="18" name="TextBox 17"/>
          <p:cNvSpPr txBox="1"/>
          <p:nvPr/>
        </p:nvSpPr>
        <p:spPr>
          <a:xfrm>
            <a:off x="9281160" y="3593592"/>
            <a:ext cx="2423160" cy="320040"/>
          </a:xfrm>
          <a:prstGeom prst="rect">
            <a:avLst/>
          </a:prstGeom>
          <a:noFill/>
        </p:spPr>
        <p:txBody>
          <a:bodyPr wrap="square" lIns="0" rIns="0" tIns="0" bIns="0" anchor="t">
            <a:spAutoFit/>
          </a:bodyPr>
          <a:lstStyle/>
          <a:p>
            <a:pPr algn="l"/>
            <a:r>
              <a:rPr sz="1200" b="1">
                <a:solidFill>
                  <a:srgbClr val="222222"/>
                </a:solidFill>
                <a:latin typeface="Calibri"/>
              </a:rPr>
              <a:t>369 columns</a:t>
            </a:r>
          </a:p>
        </p:txBody>
      </p:sp>
      <p:sp>
        <p:nvSpPr>
          <p:cNvPr id="19" name="TextBox 18"/>
          <p:cNvSpPr txBox="1"/>
          <p:nvPr/>
        </p:nvSpPr>
        <p:spPr>
          <a:xfrm>
            <a:off x="7452360" y="3977640"/>
            <a:ext cx="1828800" cy="320040"/>
          </a:xfrm>
          <a:prstGeom prst="rect">
            <a:avLst/>
          </a:prstGeom>
          <a:noFill/>
        </p:spPr>
        <p:txBody>
          <a:bodyPr wrap="square" lIns="0" rIns="0" tIns="0" bIns="0" anchor="t">
            <a:spAutoFit/>
          </a:bodyPr>
          <a:lstStyle/>
          <a:p>
            <a:pPr algn="l"/>
            <a:r>
              <a:rPr sz="1200" b="0">
                <a:solidFill>
                  <a:srgbClr val="555555"/>
                </a:solidFill>
                <a:latin typeface="Calibri"/>
              </a:rPr>
              <a:t>Validation RMSE</a:t>
            </a:r>
          </a:p>
        </p:txBody>
      </p:sp>
      <p:sp>
        <p:nvSpPr>
          <p:cNvPr id="20" name="TextBox 19"/>
          <p:cNvSpPr txBox="1"/>
          <p:nvPr/>
        </p:nvSpPr>
        <p:spPr>
          <a:xfrm>
            <a:off x="9281160" y="3977640"/>
            <a:ext cx="2423160" cy="320040"/>
          </a:xfrm>
          <a:prstGeom prst="rect">
            <a:avLst/>
          </a:prstGeom>
          <a:noFill/>
        </p:spPr>
        <p:txBody>
          <a:bodyPr wrap="square" lIns="0" rIns="0" tIns="0" bIns="0" anchor="t">
            <a:spAutoFit/>
          </a:bodyPr>
          <a:lstStyle/>
          <a:p>
            <a:pPr algn="l"/>
            <a:r>
              <a:rPr sz="1200" b="1">
                <a:solidFill>
                  <a:srgbClr val="222222"/>
                </a:solidFill>
                <a:latin typeface="Calibri"/>
              </a:rPr>
              <a:t>$32,187</a:t>
            </a:r>
          </a:p>
        </p:txBody>
      </p:sp>
      <p:sp>
        <p:nvSpPr>
          <p:cNvPr id="21" name="TextBox 20"/>
          <p:cNvSpPr txBox="1"/>
          <p:nvPr/>
        </p:nvSpPr>
        <p:spPr>
          <a:xfrm>
            <a:off x="7452360" y="4361688"/>
            <a:ext cx="1828800" cy="320040"/>
          </a:xfrm>
          <a:prstGeom prst="rect">
            <a:avLst/>
          </a:prstGeom>
          <a:noFill/>
        </p:spPr>
        <p:txBody>
          <a:bodyPr wrap="square" lIns="0" rIns="0" tIns="0" bIns="0" anchor="t">
            <a:spAutoFit/>
          </a:bodyPr>
          <a:lstStyle/>
          <a:p>
            <a:pPr algn="l"/>
            <a:r>
              <a:rPr sz="1200" b="0">
                <a:solidFill>
                  <a:srgbClr val="555555"/>
                </a:solidFill>
                <a:latin typeface="Calibri"/>
              </a:rPr>
              <a:t>Internal test RMSE</a:t>
            </a:r>
          </a:p>
        </p:txBody>
      </p:sp>
      <p:sp>
        <p:nvSpPr>
          <p:cNvPr id="22" name="TextBox 21"/>
          <p:cNvSpPr txBox="1"/>
          <p:nvPr/>
        </p:nvSpPr>
        <p:spPr>
          <a:xfrm>
            <a:off x="9281160" y="4361688"/>
            <a:ext cx="2423160" cy="320040"/>
          </a:xfrm>
          <a:prstGeom prst="rect">
            <a:avLst/>
          </a:prstGeom>
          <a:noFill/>
        </p:spPr>
        <p:txBody>
          <a:bodyPr wrap="square" lIns="0" rIns="0" tIns="0" bIns="0" anchor="t">
            <a:spAutoFit/>
          </a:bodyPr>
          <a:lstStyle/>
          <a:p>
            <a:pPr algn="l"/>
            <a:r>
              <a:rPr sz="1200" b="1">
                <a:solidFill>
                  <a:srgbClr val="222222"/>
                </a:solidFill>
                <a:latin typeface="Calibri"/>
              </a:rPr>
              <a:t>$73,028</a:t>
            </a:r>
          </a:p>
        </p:txBody>
      </p:sp>
      <p:sp>
        <p:nvSpPr>
          <p:cNvPr id="23" name="TextBox 22"/>
          <p:cNvSpPr txBox="1"/>
          <p:nvPr/>
        </p:nvSpPr>
        <p:spPr>
          <a:xfrm>
            <a:off x="7452360" y="5029200"/>
            <a:ext cx="4114800" cy="914400"/>
          </a:xfrm>
          <a:prstGeom prst="rect">
            <a:avLst/>
          </a:prstGeom>
          <a:noFill/>
        </p:spPr>
        <p:txBody>
          <a:bodyPr wrap="square" lIns="0" rIns="0" tIns="0" bIns="0" anchor="t">
            <a:spAutoFit/>
          </a:bodyPr>
          <a:lstStyle/>
          <a:p>
            <a:pPr algn="l"/>
            <a:r>
              <a:rPr sz="1100" b="0">
                <a:solidFill>
                  <a:srgbClr val="555555"/>
                </a:solidFill>
                <a:latin typeface="Calibri"/>
              </a:rPr>
              <a:t>The internal test RMSE is dominated by a single $1.27M R17 row that the model deliberately predicts at the regional norm.</a:t>
            </a:r>
          </a:p>
        </p:txBody>
      </p:sp>
      <p:sp>
        <p:nvSpPr>
          <p:cNvPr id="24" name="TextBox 23"/>
          <p:cNvSpPr txBox="1"/>
          <p:nvPr/>
        </p:nvSpPr>
        <p:spPr>
          <a:xfrm>
            <a:off x="457200" y="6446520"/>
            <a:ext cx="7315200" cy="274320"/>
          </a:xfrm>
          <a:prstGeom prst="rect">
            <a:avLst/>
          </a:prstGeom>
          <a:noFill/>
        </p:spPr>
        <p:txBody>
          <a:bodyPr wrap="square" lIns="0" rIns="0" tIns="0" bIns="0" anchor="t">
            <a:spAutoFit/>
          </a:bodyPr>
          <a:lstStyle/>
          <a:p>
            <a:pPr algn="l"/>
            <a:r>
              <a:rPr sz="1000" b="0">
                <a:solidFill>
                  <a:srgbClr val="555555"/>
                </a:solidFill>
                <a:latin typeface="Calibri"/>
              </a:rPr>
              <a:t>ML1 (2026) — Task 2: Developer Salary Prediction</a:t>
            </a:r>
          </a:p>
        </p:txBody>
      </p:sp>
      <p:sp>
        <p:nvSpPr>
          <p:cNvPr id="25" name="TextBox 24"/>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555555"/>
                </a:solidFill>
                <a:latin typeface="Calibri"/>
              </a:rP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164592"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594360"/>
          </a:xfrm>
          <a:prstGeom prst="rect">
            <a:avLst/>
          </a:prstGeom>
          <a:noFill/>
        </p:spPr>
        <p:txBody>
          <a:bodyPr wrap="square" lIns="0" rIns="0" tIns="0" bIns="0" anchor="t">
            <a:spAutoFit/>
          </a:bodyPr>
          <a:lstStyle/>
          <a:p>
            <a:pPr algn="l"/>
            <a:r>
              <a:rPr sz="3000" b="1">
                <a:solidFill>
                  <a:srgbClr val="1F4E79"/>
                </a:solidFill>
                <a:latin typeface="Calibri"/>
              </a:rPr>
              <a:t>Takeaways</a:t>
            </a:r>
          </a:p>
        </p:txBody>
      </p:sp>
      <p:sp>
        <p:nvSpPr>
          <p:cNvPr id="5" name="TextBox 4"/>
          <p:cNvSpPr txBox="1"/>
          <p:nvPr/>
        </p:nvSpPr>
        <p:spPr>
          <a:xfrm>
            <a:off x="777240" y="914400"/>
            <a:ext cx="10515600" cy="411480"/>
          </a:xfrm>
          <a:prstGeom prst="rect">
            <a:avLst/>
          </a:prstGeom>
          <a:noFill/>
        </p:spPr>
        <p:txBody>
          <a:bodyPr wrap="square" lIns="0" rIns="0" tIns="0" bIns="0" anchor="t">
            <a:spAutoFit/>
          </a:bodyPr>
          <a:lstStyle/>
          <a:p>
            <a:pPr algn="l"/>
            <a:r>
              <a:rPr sz="1600" b="0">
                <a:solidFill>
                  <a:srgbClr val="555555"/>
                </a:solidFill>
                <a:latin typeface="Calibri"/>
              </a:rPr>
              <a:t>Three lessons I'd carry to the next regression problem</a:t>
            </a:r>
          </a:p>
        </p:txBody>
      </p:sp>
      <p:sp>
        <p:nvSpPr>
          <p:cNvPr id="6" name="Oval 5"/>
          <p:cNvSpPr/>
          <p:nvPr/>
        </p:nvSpPr>
        <p:spPr>
          <a:xfrm>
            <a:off x="777240" y="1691640"/>
            <a:ext cx="502920" cy="50292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2000">
                <a:solidFill>
                  <a:srgbClr val="FFFFFF"/>
                </a:solidFill>
              </a:rPr>
              <a:t>1</a:t>
            </a:r>
          </a:p>
        </p:txBody>
      </p:sp>
      <p:sp>
        <p:nvSpPr>
          <p:cNvPr id="7" name="TextBox 6"/>
          <p:cNvSpPr txBox="1"/>
          <p:nvPr/>
        </p:nvSpPr>
        <p:spPr>
          <a:xfrm>
            <a:off x="1463040" y="1691640"/>
            <a:ext cx="10058400" cy="411480"/>
          </a:xfrm>
          <a:prstGeom prst="rect">
            <a:avLst/>
          </a:prstGeom>
          <a:noFill/>
        </p:spPr>
        <p:txBody>
          <a:bodyPr wrap="square" lIns="0" rIns="0" tIns="0" bIns="0" anchor="t">
            <a:spAutoFit/>
          </a:bodyPr>
          <a:lstStyle/>
          <a:p>
            <a:pPr algn="l"/>
            <a:r>
              <a:rPr sz="1800" b="1">
                <a:solidFill>
                  <a:srgbClr val="1F4E79"/>
                </a:solidFill>
                <a:latin typeface="Calibri"/>
              </a:rPr>
              <a:t>Cleaning matters, but targeting matters more.</a:t>
            </a:r>
          </a:p>
        </p:txBody>
      </p:sp>
      <p:sp>
        <p:nvSpPr>
          <p:cNvPr id="8" name="TextBox 7"/>
          <p:cNvSpPr txBox="1"/>
          <p:nvPr/>
        </p:nvSpPr>
        <p:spPr>
          <a:xfrm>
            <a:off x="1463040" y="2148840"/>
            <a:ext cx="10058400" cy="1005840"/>
          </a:xfrm>
          <a:prstGeom prst="rect">
            <a:avLst/>
          </a:prstGeom>
          <a:noFill/>
        </p:spPr>
        <p:txBody>
          <a:bodyPr wrap="square" lIns="0" rIns="0" tIns="0" bIns="0" anchor="t">
            <a:spAutoFit/>
          </a:bodyPr>
          <a:lstStyle/>
          <a:p>
            <a:pPr algn="l"/>
            <a:r>
              <a:rPr sz="1400" b="0">
                <a:solidFill>
                  <a:srgbClr val="222222"/>
                </a:solidFill>
                <a:latin typeface="Calibri"/>
              </a:rPr>
              <a:t>Blanket winsorisation looked good on the metric and made generalisation worse. The surgical R17 filter removes 3 rows and beats the blanket cap.</a:t>
            </a:r>
          </a:p>
        </p:txBody>
      </p:sp>
      <p:sp>
        <p:nvSpPr>
          <p:cNvPr id="9" name="Oval 8"/>
          <p:cNvSpPr/>
          <p:nvPr/>
        </p:nvSpPr>
        <p:spPr>
          <a:xfrm>
            <a:off x="777240" y="3108960"/>
            <a:ext cx="502920" cy="50292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2000">
                <a:solidFill>
                  <a:srgbClr val="FFFFFF"/>
                </a:solidFill>
              </a:rPr>
              <a:t>2</a:t>
            </a:r>
          </a:p>
        </p:txBody>
      </p:sp>
      <p:sp>
        <p:nvSpPr>
          <p:cNvPr id="10" name="TextBox 9"/>
          <p:cNvSpPr txBox="1"/>
          <p:nvPr/>
        </p:nvSpPr>
        <p:spPr>
          <a:xfrm>
            <a:off x="1463040" y="3108960"/>
            <a:ext cx="10058400" cy="411480"/>
          </a:xfrm>
          <a:prstGeom prst="rect">
            <a:avLst/>
          </a:prstGeom>
          <a:noFill/>
        </p:spPr>
        <p:txBody>
          <a:bodyPr wrap="square" lIns="0" rIns="0" tIns="0" bIns="0" anchor="t">
            <a:spAutoFit/>
          </a:bodyPr>
          <a:lstStyle/>
          <a:p>
            <a:pPr algn="l"/>
            <a:r>
              <a:rPr sz="1800" b="1">
                <a:solidFill>
                  <a:srgbClr val="1F4E79"/>
                </a:solidFill>
                <a:latin typeface="Calibri"/>
              </a:rPr>
              <a:t>Validation set decisions beat training set heuristics.</a:t>
            </a:r>
          </a:p>
        </p:txBody>
      </p:sp>
      <p:sp>
        <p:nvSpPr>
          <p:cNvPr id="11" name="TextBox 10"/>
          <p:cNvSpPr txBox="1"/>
          <p:nvPr/>
        </p:nvSpPr>
        <p:spPr>
          <a:xfrm>
            <a:off x="1463040" y="3566160"/>
            <a:ext cx="10058400" cy="1005840"/>
          </a:xfrm>
          <a:prstGeom prst="rect">
            <a:avLst/>
          </a:prstGeom>
          <a:noFill/>
        </p:spPr>
        <p:txBody>
          <a:bodyPr wrap="square" lIns="0" rIns="0" tIns="0" bIns="0" anchor="t">
            <a:spAutoFit/>
          </a:bodyPr>
          <a:lstStyle/>
          <a:p>
            <a:pPr algn="l"/>
            <a:r>
              <a:rPr sz="1400" b="0">
                <a:solidFill>
                  <a:srgbClr val="222222"/>
                </a:solidFill>
                <a:latin typeface="Calibri"/>
              </a:rPr>
              <a:t>Smearing correction, ensemble weight, and the choice of cleaning strategy were all decided on the held-out 377-row validation split, never on training residuals or CV averages alone.</a:t>
            </a:r>
          </a:p>
        </p:txBody>
      </p:sp>
      <p:sp>
        <p:nvSpPr>
          <p:cNvPr id="12" name="Oval 11"/>
          <p:cNvSpPr/>
          <p:nvPr/>
        </p:nvSpPr>
        <p:spPr>
          <a:xfrm>
            <a:off x="777240" y="4526280"/>
            <a:ext cx="502920" cy="502920"/>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2000">
                <a:solidFill>
                  <a:srgbClr val="FFFFFF"/>
                </a:solidFill>
              </a:rPr>
              <a:t>3</a:t>
            </a:r>
          </a:p>
        </p:txBody>
      </p:sp>
      <p:sp>
        <p:nvSpPr>
          <p:cNvPr id="13" name="TextBox 12"/>
          <p:cNvSpPr txBox="1"/>
          <p:nvPr/>
        </p:nvSpPr>
        <p:spPr>
          <a:xfrm>
            <a:off x="1463040" y="4526280"/>
            <a:ext cx="10058400" cy="411480"/>
          </a:xfrm>
          <a:prstGeom prst="rect">
            <a:avLst/>
          </a:prstGeom>
          <a:noFill/>
        </p:spPr>
        <p:txBody>
          <a:bodyPr wrap="square" lIns="0" rIns="0" tIns="0" bIns="0" anchor="t">
            <a:spAutoFit/>
          </a:bodyPr>
          <a:lstStyle/>
          <a:p>
            <a:pPr algn="l"/>
            <a:r>
              <a:rPr sz="1800" b="1">
                <a:solidFill>
                  <a:srgbClr val="1F4E79"/>
                </a:solidFill>
                <a:latin typeface="Calibri"/>
              </a:rPr>
              <a:t>Ensembles in the syllabus toolbox are enough.</a:t>
            </a:r>
          </a:p>
        </p:txBody>
      </p:sp>
      <p:sp>
        <p:nvSpPr>
          <p:cNvPr id="14" name="TextBox 13"/>
          <p:cNvSpPr txBox="1"/>
          <p:nvPr/>
        </p:nvSpPr>
        <p:spPr>
          <a:xfrm>
            <a:off x="1463040" y="4983480"/>
            <a:ext cx="10058400" cy="1005840"/>
          </a:xfrm>
          <a:prstGeom prst="rect">
            <a:avLst/>
          </a:prstGeom>
          <a:noFill/>
        </p:spPr>
        <p:txBody>
          <a:bodyPr wrap="square" lIns="0" rIns="0" tIns="0" bIns="0" anchor="t">
            <a:spAutoFit/>
          </a:bodyPr>
          <a:lstStyle/>
          <a:p>
            <a:pPr algn="l"/>
            <a:r>
              <a:rPr sz="1400" b="0">
                <a:solidFill>
                  <a:srgbClr val="222222"/>
                </a:solidFill>
                <a:latin typeface="Calibri"/>
              </a:rPr>
              <a:t>SVR-RBF brings non-linear flexibility, ElasticNet brings a stable linear backbone. Their linear combination dominates either model on its own, with no need to step outside the course material.</a:t>
            </a:r>
          </a:p>
        </p:txBody>
      </p:sp>
      <p:sp>
        <p:nvSpPr>
          <p:cNvPr id="15" name="TextBox 14"/>
          <p:cNvSpPr txBox="1"/>
          <p:nvPr/>
        </p:nvSpPr>
        <p:spPr>
          <a:xfrm>
            <a:off x="457200" y="6446520"/>
            <a:ext cx="7315200" cy="274320"/>
          </a:xfrm>
          <a:prstGeom prst="rect">
            <a:avLst/>
          </a:prstGeom>
          <a:noFill/>
        </p:spPr>
        <p:txBody>
          <a:bodyPr wrap="square" lIns="0" rIns="0" tIns="0" bIns="0" anchor="t">
            <a:spAutoFit/>
          </a:bodyPr>
          <a:lstStyle/>
          <a:p>
            <a:pPr algn="l"/>
            <a:r>
              <a:rPr sz="1000" b="0">
                <a:solidFill>
                  <a:srgbClr val="555555"/>
                </a:solidFill>
                <a:latin typeface="Calibri"/>
              </a:rPr>
              <a:t>ML1 (2026) — Task 2: Developer Salary Prediction</a:t>
            </a:r>
          </a:p>
        </p:txBody>
      </p:sp>
      <p:sp>
        <p:nvSpPr>
          <p:cNvPr id="16" name="TextBox 15"/>
          <p:cNvSpPr txBox="1"/>
          <p:nvPr/>
        </p:nvSpPr>
        <p:spPr>
          <a:xfrm>
            <a:off x="10515600" y="6446520"/>
            <a:ext cx="1188720" cy="274320"/>
          </a:xfrm>
          <a:prstGeom prst="rect">
            <a:avLst/>
          </a:prstGeom>
          <a:noFill/>
        </p:spPr>
        <p:txBody>
          <a:bodyPr wrap="square" lIns="0" rIns="0" tIns="0" bIns="0" anchor="t">
            <a:spAutoFit/>
          </a:bodyPr>
          <a:lstStyle/>
          <a:p>
            <a:pPr algn="r"/>
            <a:r>
              <a:rPr sz="1000" b="0">
                <a:solidFill>
                  <a:srgbClr val="555555"/>
                </a:solidFill>
                <a:latin typeface="Calibri"/>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