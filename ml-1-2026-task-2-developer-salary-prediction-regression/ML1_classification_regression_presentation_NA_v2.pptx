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UAr3cjK6mTaV3kKYM/7YX8tm0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d3eafa76d_0_6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fd3eafa76d_0_6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d3eafa76d_0_6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d3eafa76d_0_29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g3fd3eafa76d_0_2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d3eafa76d_0_2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d3eafa76d_0_6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fd3eafa76d_0_6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d3eafa76d_0_6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388" y="2805820"/>
            <a:ext cx="10515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3100"/>
          </a:p>
        </p:txBody>
      </p:sp>
      <p:sp>
        <p:nvSpPr>
          <p:cNvPr id="87" name="Google Shape;87;p1"/>
          <p:cNvSpPr/>
          <p:nvPr/>
        </p:nvSpPr>
        <p:spPr>
          <a:xfrm>
            <a:off x="914400" y="4023360"/>
            <a:ext cx="2286000" cy="25400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4383430"/>
            <a:ext cx="54294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Group: NA</a:t>
            </a:r>
            <a:endParaRPr sz="2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Natalia Namysłowska, Adam Jaworski</a:t>
            </a:r>
            <a:endParaRPr sz="20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d3eafa76d_0_634"/>
          <p:cNvSpPr/>
          <p:nvPr/>
        </p:nvSpPr>
        <p:spPr>
          <a:xfrm>
            <a:off x="0" y="0"/>
            <a:ext cx="5487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d3eafa76d_0_634"/>
          <p:cNvSpPr txBox="1"/>
          <p:nvPr/>
        </p:nvSpPr>
        <p:spPr>
          <a:xfrm>
            <a:off x="914400" y="3074995"/>
            <a:ext cx="10515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Regression: </a:t>
            </a:r>
            <a:r>
              <a:rPr b="1" i="0" lang="en-US" sz="4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Developer Salary Prediction</a:t>
            </a:r>
            <a:endParaRPr/>
          </a:p>
        </p:txBody>
      </p:sp>
      <p:sp>
        <p:nvSpPr>
          <p:cNvPr id="96" name="Google Shape;96;g3fd3eafa76d_0_634"/>
          <p:cNvSpPr/>
          <p:nvPr/>
        </p:nvSpPr>
        <p:spPr>
          <a:xfrm>
            <a:off x="914400" y="4023360"/>
            <a:ext cx="2286000" cy="25500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457200" y="5996013"/>
            <a:ext cx="4869900" cy="555600"/>
          </a:xfrm>
          <a:prstGeom prst="roundRect">
            <a:avLst>
              <a:gd fmla="val 16667" name="adj"/>
            </a:avLst>
          </a:prstGeom>
          <a:solidFill>
            <a:srgbClr val="E6EFF7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b="0" i="0" lang="en-US" sz="2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Final refit on full labelled data</a:t>
            </a:r>
            <a:endParaRPr sz="2000"/>
          </a:p>
        </p:txBody>
      </p:sp>
      <p:sp>
        <p:nvSpPr>
          <p:cNvPr id="103" name="Google Shape;103;p2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77240" y="365760"/>
            <a:ext cx="10515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Approach overview</a:t>
            </a:r>
            <a:endParaRPr sz="3700"/>
          </a:p>
        </p:txBody>
      </p:sp>
      <p:sp>
        <p:nvSpPr>
          <p:cNvPr id="105" name="Google Shape;105;p2"/>
          <p:cNvSpPr/>
          <p:nvPr/>
        </p:nvSpPr>
        <p:spPr>
          <a:xfrm>
            <a:off x="457200" y="1348642"/>
            <a:ext cx="4869900" cy="555600"/>
          </a:xfrm>
          <a:prstGeom prst="roundRect">
            <a:avLst>
              <a:gd fmla="val 16667" name="adj"/>
            </a:avLst>
          </a:prstGeom>
          <a:solidFill>
            <a:srgbClr val="F3F7FB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Train / val / test split (70 / 15 / 15)</a:t>
            </a:r>
            <a:endParaRPr sz="2000"/>
          </a:p>
        </p:txBody>
      </p:sp>
      <p:sp>
        <p:nvSpPr>
          <p:cNvPr id="106" name="Google Shape;106;p2"/>
          <p:cNvSpPr/>
          <p:nvPr/>
        </p:nvSpPr>
        <p:spPr>
          <a:xfrm>
            <a:off x="457200" y="2025674"/>
            <a:ext cx="4869900" cy="555600"/>
          </a:xfrm>
          <a:prstGeom prst="roundRect">
            <a:avLst>
              <a:gd fmla="val 16667" name="adj"/>
            </a:avLst>
          </a:prstGeom>
          <a:solidFill>
            <a:srgbClr val="E6EFF7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2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R17 cleaning</a:t>
            </a:r>
            <a:endParaRPr sz="2000"/>
          </a:p>
        </p:txBody>
      </p:sp>
      <p:sp>
        <p:nvSpPr>
          <p:cNvPr id="107" name="Google Shape;107;p2"/>
          <p:cNvSpPr/>
          <p:nvPr/>
        </p:nvSpPr>
        <p:spPr>
          <a:xfrm>
            <a:off x="457200" y="2702706"/>
            <a:ext cx="4869900" cy="555600"/>
          </a:xfrm>
          <a:prstGeom prst="roundRect">
            <a:avLst>
              <a:gd fmla="val 16667" name="adj"/>
            </a:avLst>
          </a:prstGeom>
          <a:solidFill>
            <a:srgbClr val="F3F7FB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2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Feature engineering (~370 features)</a:t>
            </a:r>
            <a:endParaRPr sz="2000"/>
          </a:p>
        </p:txBody>
      </p:sp>
      <p:sp>
        <p:nvSpPr>
          <p:cNvPr id="108" name="Google Shape;108;p2"/>
          <p:cNvSpPr/>
          <p:nvPr/>
        </p:nvSpPr>
        <p:spPr>
          <a:xfrm>
            <a:off x="457200" y="3367526"/>
            <a:ext cx="4869900" cy="555600"/>
          </a:xfrm>
          <a:prstGeom prst="roundRect">
            <a:avLst>
              <a:gd fmla="val 16667" name="adj"/>
            </a:avLst>
          </a:prstGeom>
          <a:solidFill>
            <a:srgbClr val="E6EFF7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0" i="0" lang="en-US" sz="2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Preprocessing pipeline (4 transformer groups)</a:t>
            </a:r>
            <a:endParaRPr sz="2000"/>
          </a:p>
        </p:txBody>
      </p:sp>
      <p:sp>
        <p:nvSpPr>
          <p:cNvPr id="109" name="Google Shape;109;p2"/>
          <p:cNvSpPr/>
          <p:nvPr/>
        </p:nvSpPr>
        <p:spPr>
          <a:xfrm>
            <a:off x="457200" y="4032347"/>
            <a:ext cx="4869900" cy="555600"/>
          </a:xfrm>
          <a:prstGeom prst="roundRect">
            <a:avLst>
              <a:gd fmla="val 16667" name="adj"/>
            </a:avLst>
          </a:prstGeom>
          <a:solidFill>
            <a:srgbClr val="F3F7FB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0" i="0" lang="en-US" sz="2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Baseline 5-fold CV across 6 models</a:t>
            </a:r>
            <a:endParaRPr sz="2000"/>
          </a:p>
        </p:txBody>
      </p:sp>
      <p:sp>
        <p:nvSpPr>
          <p:cNvPr id="110" name="Google Shape;110;p2"/>
          <p:cNvSpPr/>
          <p:nvPr/>
        </p:nvSpPr>
        <p:spPr>
          <a:xfrm>
            <a:off x="457200" y="4684955"/>
            <a:ext cx="4869900" cy="555600"/>
          </a:xfrm>
          <a:prstGeom prst="roundRect">
            <a:avLst>
              <a:gd fmla="val 16667" name="adj"/>
            </a:avLst>
          </a:prstGeom>
          <a:solidFill>
            <a:srgbClr val="E6EFF7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b="0" i="0" lang="en-US" sz="2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Grid search on SVR-RBF and ElasticNet</a:t>
            </a:r>
            <a:endParaRPr sz="2000"/>
          </a:p>
        </p:txBody>
      </p:sp>
      <p:sp>
        <p:nvSpPr>
          <p:cNvPr id="111" name="Google Shape;111;p2"/>
          <p:cNvSpPr/>
          <p:nvPr/>
        </p:nvSpPr>
        <p:spPr>
          <a:xfrm>
            <a:off x="457200" y="5337564"/>
            <a:ext cx="4869900" cy="555600"/>
          </a:xfrm>
          <a:prstGeom prst="roundRect">
            <a:avLst>
              <a:gd fmla="val 16667" name="adj"/>
            </a:avLst>
          </a:prstGeom>
          <a:solidFill>
            <a:srgbClr val="F3F7FB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b="0" i="0" lang="en-US" sz="2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Validation set decides smearing + ensemble weight</a:t>
            </a:r>
            <a:endParaRPr sz="2000"/>
          </a:p>
        </p:txBody>
      </p:sp>
      <p:grpSp>
        <p:nvGrpSpPr>
          <p:cNvPr id="112" name="Google Shape;112;p2"/>
          <p:cNvGrpSpPr/>
          <p:nvPr/>
        </p:nvGrpSpPr>
        <p:grpSpPr>
          <a:xfrm>
            <a:off x="5608325" y="1474155"/>
            <a:ext cx="6096000" cy="4953000"/>
            <a:chOff x="5638800" y="1493205"/>
            <a:chExt cx="6096000" cy="4953000"/>
          </a:xfrm>
        </p:grpSpPr>
        <p:sp>
          <p:nvSpPr>
            <p:cNvPr id="113" name="Google Shape;113;p2"/>
            <p:cNvSpPr/>
            <p:nvPr/>
          </p:nvSpPr>
          <p:spPr>
            <a:xfrm>
              <a:off x="5638800" y="1493205"/>
              <a:ext cx="6096000" cy="4953000"/>
            </a:xfrm>
            <a:prstGeom prst="roundRect">
              <a:avLst>
                <a:gd fmla="val 23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5829300" y="1571625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F4E79"/>
                  </a:solidFill>
                  <a:latin typeface="Calibri"/>
                  <a:ea typeface="Calibri"/>
                  <a:cs typeface="Calibri"/>
                  <a:sym typeface="Calibri"/>
                </a:rPr>
                <a:t>Key project decisions</a:t>
              </a:r>
              <a:endParaRPr b="1" sz="2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5" name="Google Shape;115;p2"/>
            <p:cNvGrpSpPr/>
            <p:nvPr/>
          </p:nvGrpSpPr>
          <p:grpSpPr>
            <a:xfrm>
              <a:off x="5829300" y="2112330"/>
              <a:ext cx="5715000" cy="1073100"/>
              <a:chOff x="0" y="64455"/>
              <a:chExt cx="5715000" cy="1073100"/>
            </a:xfrm>
          </p:grpSpPr>
          <p:sp>
            <p:nvSpPr>
              <p:cNvPr id="116" name="Google Shape;116;p2"/>
              <p:cNvSpPr/>
              <p:nvPr/>
            </p:nvSpPr>
            <p:spPr>
              <a:xfrm>
                <a:off x="0" y="64455"/>
                <a:ext cx="5715000" cy="1073100"/>
              </a:xfrm>
              <a:prstGeom prst="roundRect">
                <a:avLst>
                  <a:gd fmla="val 8888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/>
              </a:p>
            </p:txBody>
          </p:sp>
          <p:sp>
            <p:nvSpPr>
              <p:cNvPr id="117" name="Google Shape;117;p2"/>
              <p:cNvSpPr txBox="1"/>
              <p:nvPr/>
            </p:nvSpPr>
            <p:spPr>
              <a:xfrm>
                <a:off x="142875" y="159705"/>
                <a:ext cx="5429400" cy="85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R17 Cleaning</a:t>
                </a:r>
                <a:endParaRPr b="1" sz="2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Removal of extreme values (mixed currency) from the training set only.</a:t>
                </a:r>
                <a:endParaRPr sz="2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2"/>
            <p:cNvGrpSpPr/>
            <p:nvPr/>
          </p:nvGrpSpPr>
          <p:grpSpPr>
            <a:xfrm>
              <a:off x="5829300" y="3488694"/>
              <a:ext cx="5857875" cy="1073135"/>
              <a:chOff x="0" y="488319"/>
              <a:chExt cx="5857875" cy="1073135"/>
            </a:xfrm>
          </p:grpSpPr>
          <p:sp>
            <p:nvSpPr>
              <p:cNvPr id="119" name="Google Shape;119;p2"/>
              <p:cNvSpPr/>
              <p:nvPr/>
            </p:nvSpPr>
            <p:spPr>
              <a:xfrm>
                <a:off x="0" y="488319"/>
                <a:ext cx="5715000" cy="1073100"/>
              </a:xfrm>
              <a:prstGeom prst="roundRect">
                <a:avLst>
                  <a:gd fmla="val 8888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/>
              </a:p>
            </p:txBody>
          </p:sp>
          <p:sp>
            <p:nvSpPr>
              <p:cNvPr id="120" name="Google Shape;120;p2"/>
              <p:cNvSpPr txBox="1"/>
              <p:nvPr/>
            </p:nvSpPr>
            <p:spPr>
              <a:xfrm>
                <a:off x="142875" y="524653"/>
                <a:ext cx="5715000" cy="103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Logarithmic Transformation</a:t>
                </a:r>
                <a:endParaRPr b="1" sz="2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Modelling log1p(salary) and conditional Duan smearing.</a:t>
                </a:r>
                <a:endParaRPr sz="2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2"/>
            <p:cNvGrpSpPr/>
            <p:nvPr/>
          </p:nvGrpSpPr>
          <p:grpSpPr>
            <a:xfrm>
              <a:off x="5829300" y="4764999"/>
              <a:ext cx="5715000" cy="1134080"/>
              <a:chOff x="0" y="812124"/>
              <a:chExt cx="5715000" cy="1134080"/>
            </a:xfrm>
          </p:grpSpPr>
          <p:sp>
            <p:nvSpPr>
              <p:cNvPr id="122" name="Google Shape;122;p2"/>
              <p:cNvSpPr/>
              <p:nvPr/>
            </p:nvSpPr>
            <p:spPr>
              <a:xfrm>
                <a:off x="0" y="873104"/>
                <a:ext cx="5715000" cy="1073100"/>
              </a:xfrm>
              <a:prstGeom prst="roundRect">
                <a:avLst>
                  <a:gd fmla="val 8888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/>
              </a:p>
            </p:txBody>
          </p:sp>
          <p:sp>
            <p:nvSpPr>
              <p:cNvPr id="123" name="Google Shape;123;p2"/>
              <p:cNvSpPr txBox="1"/>
              <p:nvPr/>
            </p:nvSpPr>
            <p:spPr>
              <a:xfrm>
                <a:off x="142875" y="812124"/>
                <a:ext cx="5429400" cy="107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2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Ensemble Model</a:t>
                </a:r>
                <a:endParaRPr b="1" sz="2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Linear combination of SVR-RBF and ElasticNet with learned weights.</a:t>
                </a:r>
                <a:endParaRPr sz="20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d3eafa76d_0_291"/>
          <p:cNvSpPr txBox="1"/>
          <p:nvPr/>
        </p:nvSpPr>
        <p:spPr>
          <a:xfrm>
            <a:off x="777244" y="365749"/>
            <a:ext cx="4491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Target distribution</a:t>
            </a:r>
            <a:endParaRPr sz="3700"/>
          </a:p>
        </p:txBody>
      </p:sp>
      <p:grpSp>
        <p:nvGrpSpPr>
          <p:cNvPr id="130" name="Google Shape;130;g3fd3eafa76d_0_291"/>
          <p:cNvGrpSpPr/>
          <p:nvPr/>
        </p:nvGrpSpPr>
        <p:grpSpPr>
          <a:xfrm>
            <a:off x="777191" y="1552453"/>
            <a:ext cx="5209983" cy="4554826"/>
            <a:chOff x="777240" y="1552575"/>
            <a:chExt cx="4848300" cy="4238625"/>
          </a:xfrm>
        </p:grpSpPr>
        <p:sp>
          <p:nvSpPr>
            <p:cNvPr id="131" name="Google Shape;131;g3fd3eafa76d_0_291"/>
            <p:cNvSpPr/>
            <p:nvPr/>
          </p:nvSpPr>
          <p:spPr>
            <a:xfrm>
              <a:off x="777240" y="1552575"/>
              <a:ext cx="4848300" cy="952500"/>
            </a:xfrm>
            <a:prstGeom prst="roundRect">
              <a:avLst>
                <a:gd fmla="val 8000" name="adj"/>
              </a:avLst>
            </a:prstGeom>
            <a:solidFill>
              <a:srgbClr val="F3F7FB"/>
            </a:solidFill>
            <a:ln cap="flat" cmpd="sng" w="102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9"/>
            </a:p>
          </p:txBody>
        </p:sp>
        <p:sp>
          <p:nvSpPr>
            <p:cNvPr id="132" name="Google Shape;132;g3fd3eafa76d_0_291"/>
            <p:cNvSpPr txBox="1"/>
            <p:nvPr/>
          </p:nvSpPr>
          <p:spPr>
            <a:xfrm>
              <a:off x="777240" y="1552575"/>
              <a:ext cx="4848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525" lIns="153525" spcFirstLastPara="1" rIns="153525" wrap="square" tIns="153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7">
                  <a:solidFill>
                    <a:srgbClr val="1F4E79"/>
                  </a:solidFill>
                  <a:latin typeface="Calibri"/>
                  <a:ea typeface="Calibri"/>
                  <a:cs typeface="Calibri"/>
                  <a:sym typeface="Calibri"/>
                </a:rPr>
                <a:t>Skewness 33+</a:t>
              </a:r>
              <a:endParaRPr b="1" sz="2257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3"/>
                </a:spcBef>
                <a:spcAft>
                  <a:spcPts val="0"/>
                </a:spcAft>
                <a:buNone/>
              </a:pPr>
              <a:r>
                <a:rPr b="0" lang="en-US" sz="2042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A handful of high-salary rows dominate the raw distribution.</a:t>
              </a:r>
              <a:endParaRPr b="0" sz="2042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fd3eafa76d_0_291"/>
            <p:cNvSpPr/>
            <p:nvPr/>
          </p:nvSpPr>
          <p:spPr>
            <a:xfrm>
              <a:off x="777240" y="2647950"/>
              <a:ext cx="4848300" cy="952500"/>
            </a:xfrm>
            <a:prstGeom prst="roundRect">
              <a:avLst>
                <a:gd fmla="val 8000" name="adj"/>
              </a:avLst>
            </a:prstGeom>
            <a:solidFill>
              <a:srgbClr val="E6EFF7"/>
            </a:solidFill>
            <a:ln cap="flat" cmpd="sng" w="102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9"/>
            </a:p>
          </p:txBody>
        </p:sp>
        <p:sp>
          <p:nvSpPr>
            <p:cNvPr id="134" name="Google Shape;134;g3fd3eafa76d_0_291"/>
            <p:cNvSpPr txBox="1"/>
            <p:nvPr/>
          </p:nvSpPr>
          <p:spPr>
            <a:xfrm>
              <a:off x="777240" y="2647950"/>
              <a:ext cx="4848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525" lIns="153525" spcFirstLastPara="1" rIns="153525" wrap="square" tIns="153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7">
                  <a:solidFill>
                    <a:srgbClr val="1F4E79"/>
                  </a:solidFill>
                  <a:latin typeface="Calibri"/>
                  <a:ea typeface="Calibri"/>
                  <a:cs typeface="Calibri"/>
                  <a:sym typeface="Calibri"/>
                </a:rPr>
                <a:t>Range $1 to $4.77M</a:t>
              </a:r>
              <a:endParaRPr b="1" sz="2257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3"/>
                </a:spcBef>
                <a:spcAft>
                  <a:spcPts val="0"/>
                </a:spcAft>
                <a:buNone/>
              </a:pPr>
              <a:r>
                <a:rPr b="0" lang="en-US" sz="2042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Most reports look reasonable; the extremes do not.</a:t>
              </a:r>
              <a:endParaRPr b="0" sz="2042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g3fd3eafa76d_0_291"/>
            <p:cNvSpPr/>
            <p:nvPr/>
          </p:nvSpPr>
          <p:spPr>
            <a:xfrm>
              <a:off x="777240" y="3743325"/>
              <a:ext cx="4848300" cy="952500"/>
            </a:xfrm>
            <a:prstGeom prst="roundRect">
              <a:avLst>
                <a:gd fmla="val 8000" name="adj"/>
              </a:avLst>
            </a:prstGeom>
            <a:solidFill>
              <a:srgbClr val="F3F7FB"/>
            </a:solidFill>
            <a:ln cap="flat" cmpd="sng" w="102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9"/>
            </a:p>
          </p:txBody>
        </p:sp>
        <p:sp>
          <p:nvSpPr>
            <p:cNvPr id="136" name="Google Shape;136;g3fd3eafa76d_0_291"/>
            <p:cNvSpPr txBox="1"/>
            <p:nvPr/>
          </p:nvSpPr>
          <p:spPr>
            <a:xfrm>
              <a:off x="777240" y="3743325"/>
              <a:ext cx="4848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525" lIns="153525" spcFirstLastPara="1" rIns="153525" wrap="square" tIns="153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7">
                  <a:solidFill>
                    <a:srgbClr val="1F4E79"/>
                  </a:solidFill>
                  <a:latin typeface="Calibri"/>
                  <a:ea typeface="Calibri"/>
                  <a:cs typeface="Calibri"/>
                  <a:sym typeface="Calibri"/>
                </a:rPr>
                <a:t>Log-transform fixes skewness</a:t>
              </a:r>
              <a:endParaRPr b="1" sz="2257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3"/>
                </a:spcBef>
                <a:spcAft>
                  <a:spcPts val="0"/>
                </a:spcAft>
                <a:buNone/>
              </a:pPr>
              <a:r>
                <a:rPr b="0" lang="en-US" sz="2042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log1p(salary) is roughly symmetric and stabilises linear models.</a:t>
              </a:r>
              <a:endParaRPr b="0" sz="2042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g3fd3eafa76d_0_291"/>
            <p:cNvSpPr/>
            <p:nvPr/>
          </p:nvSpPr>
          <p:spPr>
            <a:xfrm>
              <a:off x="777240" y="4838700"/>
              <a:ext cx="4848300" cy="952500"/>
            </a:xfrm>
            <a:prstGeom prst="roundRect">
              <a:avLst>
                <a:gd fmla="val 8000" name="adj"/>
              </a:avLst>
            </a:prstGeom>
            <a:solidFill>
              <a:srgbClr val="E6EFF7"/>
            </a:solidFill>
            <a:ln cap="flat" cmpd="sng" w="102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49"/>
            </a:p>
          </p:txBody>
        </p:sp>
        <p:sp>
          <p:nvSpPr>
            <p:cNvPr id="138" name="Google Shape;138;g3fd3eafa76d_0_291"/>
            <p:cNvSpPr txBox="1"/>
            <p:nvPr/>
          </p:nvSpPr>
          <p:spPr>
            <a:xfrm>
              <a:off x="777240" y="4838700"/>
              <a:ext cx="4848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3525" lIns="153525" spcFirstLastPara="1" rIns="153525" wrap="square" tIns="153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57">
                  <a:solidFill>
                    <a:srgbClr val="1F4E79"/>
                  </a:solidFill>
                  <a:latin typeface="Calibri"/>
                  <a:ea typeface="Calibri"/>
                  <a:cs typeface="Calibri"/>
                  <a:sym typeface="Calibri"/>
                </a:rPr>
                <a:t>Implication for evaluation</a:t>
              </a:r>
              <a:endParaRPr b="1" sz="2257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3"/>
                </a:spcBef>
                <a:spcAft>
                  <a:spcPts val="0"/>
                </a:spcAft>
                <a:buNone/>
              </a:pPr>
              <a:r>
                <a:rPr b="0" lang="en-US" sz="2042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RMSE is reported on raw scale; predictions are back-transformed.</a:t>
              </a:r>
              <a:endParaRPr b="0" sz="2042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9" name="Google Shape;139;g3fd3eafa76d_0_291"/>
          <p:cNvPicPr preferRelativeResize="0"/>
          <p:nvPr/>
        </p:nvPicPr>
        <p:blipFill rotWithShape="1">
          <a:blip r:embed="rId3">
            <a:alphaModFix/>
          </a:blip>
          <a:srcRect b="0" l="49597" r="0" t="0"/>
          <a:stretch/>
        </p:blipFill>
        <p:spPr>
          <a:xfrm>
            <a:off x="6355750" y="3576476"/>
            <a:ext cx="5345726" cy="341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fd3eafa76d_0_291"/>
          <p:cNvPicPr preferRelativeResize="0"/>
          <p:nvPr/>
        </p:nvPicPr>
        <p:blipFill rotWithShape="1">
          <a:blip r:embed="rId3">
            <a:alphaModFix/>
          </a:blip>
          <a:srcRect b="0" l="0" r="49597" t="0"/>
          <a:stretch/>
        </p:blipFill>
        <p:spPr>
          <a:xfrm>
            <a:off x="6636275" y="102742"/>
            <a:ext cx="5209974" cy="332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fd3eafa76d_0_291"/>
          <p:cNvSpPr/>
          <p:nvPr/>
        </p:nvSpPr>
        <p:spPr>
          <a:xfrm>
            <a:off x="457200" y="411480"/>
            <a:ext cx="164700" cy="5028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777240" y="365760"/>
            <a:ext cx="10515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R17: the one decision that mattered most</a:t>
            </a:r>
            <a:endParaRPr sz="3700"/>
          </a:p>
        </p:txBody>
      </p:sp>
      <p:pic>
        <p:nvPicPr>
          <p:cNvPr descr="chart_cleaning.png"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875" y="1728763"/>
            <a:ext cx="6868807" cy="449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/>
        </p:nvSpPr>
        <p:spPr>
          <a:xfrm>
            <a:off x="7406640" y="1417320"/>
            <a:ext cx="429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Why the surgical filter wins</a:t>
            </a:r>
            <a:endParaRPr sz="2300"/>
          </a:p>
        </p:txBody>
      </p:sp>
      <p:sp>
        <p:nvSpPr>
          <p:cNvPr id="151" name="Google Shape;151;p4"/>
          <p:cNvSpPr txBox="1"/>
          <p:nvPr/>
        </p:nvSpPr>
        <p:spPr>
          <a:xfrm>
            <a:off x="7406640" y="2116825"/>
            <a:ext cx="4297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● R17 shows likely mixed-currency outliers: normal salaries up to ~$240K, then $1M+ cases.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● General P99 clipping would remove valid high earners.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● Targeted R17 filtering removes only 3 contaminated rows.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● This gave the lowest validation RMSE, without cleaning the validation set.</a:t>
            </a:r>
            <a:endParaRPr sz="2200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107675" y="2910200"/>
            <a:ext cx="3975600" cy="1304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fix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77240" y="365760"/>
            <a:ext cx="10515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3700"/>
          </a:p>
        </p:txBody>
      </p:sp>
      <p:sp>
        <p:nvSpPr>
          <p:cNvPr id="160" name="Google Shape;160;p5"/>
          <p:cNvSpPr txBox="1"/>
          <p:nvPr/>
        </p:nvSpPr>
        <p:spPr>
          <a:xfrm>
            <a:off x="777240" y="1052363"/>
            <a:ext cx="1051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From 41 raw columns to ~370 model inputs</a:t>
            </a:r>
            <a:endParaRPr sz="2300"/>
          </a:p>
        </p:txBody>
      </p:sp>
      <p:sp>
        <p:nvSpPr>
          <p:cNvPr id="161" name="Google Shape;161;p5"/>
          <p:cNvSpPr txBox="1"/>
          <p:nvPr/>
        </p:nvSpPr>
        <p:spPr>
          <a:xfrm>
            <a:off x="777240" y="1554480"/>
            <a:ext cx="10698600" cy="45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1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Experience curve.</a:t>
            </a:r>
            <a:r>
              <a:rPr b="0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Drop redundant `coding.years.total` (r=0.86 with professional years); add quadratic and log1p terms on the two kept columns to capture diminishing returns.</a:t>
            </a:r>
            <a:endParaRPr sz="2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1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Seniority signal.</a:t>
            </a:r>
            <a:r>
              <a:rPr b="0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Binary flags extracted from `dev.role` for Senior / Lead / Manager / Junior / Principal / Architect / Director / Executive / Staff / VP.</a:t>
            </a:r>
            <a:endParaRPr sz="2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1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Technology breadth.</a:t>
            </a:r>
            <a:r>
              <a:rPr b="0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For each of the 15 multi-select columns: a per-column count and binary indicators for the top 25 items observed in training. Plus a global `tech_breadth_total` aggregate (useful to the non-linear SVR).</a:t>
            </a:r>
            <a:endParaRPr sz="2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1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Informative missingness.</a:t>
            </a:r>
            <a:r>
              <a:rPr b="0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AI-related columns are only shown to AI users; missingness itself carries salary signal. Added a binary `miss_*` flag for every column with more than 10% missing values in training.</a:t>
            </a:r>
            <a:endParaRPr sz="22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1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Region x company size interaction.</a:t>
            </a:r>
            <a:r>
              <a:rPr b="0" i="0" lang="en-US" sz="2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String-concatenated categorical, target-encoded so that company size is allowed to mean different things in different regions.</a:t>
            </a:r>
            <a:endParaRPr sz="2200"/>
          </a:p>
        </p:txBody>
      </p:sp>
      <p:sp>
        <p:nvSpPr>
          <p:cNvPr id="162" name="Google Shape;162;p5"/>
          <p:cNvSpPr/>
          <p:nvPr/>
        </p:nvSpPr>
        <p:spPr>
          <a:xfrm>
            <a:off x="6693850" y="1129450"/>
            <a:ext cx="3975600" cy="1304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fix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777240" y="365760"/>
            <a:ext cx="10515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Model selection &amp; final results</a:t>
            </a:r>
            <a:endParaRPr sz="3700"/>
          </a:p>
        </p:txBody>
      </p:sp>
      <p:sp>
        <p:nvSpPr>
          <p:cNvPr id="170" name="Google Shape;170;p6"/>
          <p:cNvSpPr txBox="1"/>
          <p:nvPr/>
        </p:nvSpPr>
        <p:spPr>
          <a:xfrm>
            <a:off x="777240" y="1022088"/>
            <a:ext cx="1051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SVR-RBF wins the baselines; final model is a linear ensemble with ElasticNet</a:t>
            </a:r>
            <a:endParaRPr sz="2100"/>
          </a:p>
        </p:txBody>
      </p:sp>
      <p:pic>
        <p:nvPicPr>
          <p:cNvPr descr="chart_baselines.png" id="171" name="Google Shape;171;p6"/>
          <p:cNvPicPr preferRelativeResize="0"/>
          <p:nvPr/>
        </p:nvPicPr>
        <p:blipFill rotWithShape="1">
          <a:blip r:embed="rId3">
            <a:alphaModFix/>
          </a:blip>
          <a:srcRect b="0" l="0" r="0" t="8834"/>
          <a:stretch/>
        </p:blipFill>
        <p:spPr>
          <a:xfrm>
            <a:off x="279075" y="1668950"/>
            <a:ext cx="6655175" cy="42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7269480" y="1463040"/>
            <a:ext cx="4434840" cy="4663440"/>
          </a:xfrm>
          <a:prstGeom prst="roundRect">
            <a:avLst>
              <a:gd fmla="val 8116" name="adj"/>
            </a:avLst>
          </a:prstGeom>
          <a:solidFill>
            <a:srgbClr val="F3F7FB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7452349" y="1600200"/>
            <a:ext cx="39750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6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Final ensemble</a:t>
            </a:r>
            <a:endParaRPr sz="2037"/>
          </a:p>
        </p:txBody>
      </p:sp>
      <p:sp>
        <p:nvSpPr>
          <p:cNvPr id="174" name="Google Shape;174;p6"/>
          <p:cNvSpPr txBox="1"/>
          <p:nvPr/>
        </p:nvSpPr>
        <p:spPr>
          <a:xfrm>
            <a:off x="7452349" y="2261297"/>
            <a:ext cx="17667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7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2037"/>
          </a:p>
        </p:txBody>
      </p:sp>
      <p:sp>
        <p:nvSpPr>
          <p:cNvPr id="175" name="Google Shape;175;p6"/>
          <p:cNvSpPr txBox="1"/>
          <p:nvPr/>
        </p:nvSpPr>
        <p:spPr>
          <a:xfrm>
            <a:off x="9219060" y="2261297"/>
            <a:ext cx="23409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7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0.56 × SVR-RBF + 0.44 × ElasticNet</a:t>
            </a:r>
            <a:endParaRPr sz="2037"/>
          </a:p>
        </p:txBody>
      </p:sp>
      <p:sp>
        <p:nvSpPr>
          <p:cNvPr id="176" name="Google Shape;176;p6"/>
          <p:cNvSpPr txBox="1"/>
          <p:nvPr/>
        </p:nvSpPr>
        <p:spPr>
          <a:xfrm>
            <a:off x="7452349" y="2816618"/>
            <a:ext cx="17667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7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SVR-RBF</a:t>
            </a:r>
            <a:endParaRPr sz="2037"/>
          </a:p>
        </p:txBody>
      </p:sp>
      <p:sp>
        <p:nvSpPr>
          <p:cNvPr id="177" name="Google Shape;177;p6"/>
          <p:cNvSpPr txBox="1"/>
          <p:nvPr/>
        </p:nvSpPr>
        <p:spPr>
          <a:xfrm>
            <a:off x="9219060" y="2816618"/>
            <a:ext cx="2340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7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C=1.0, ε=0.05, γ=0.001</a:t>
            </a:r>
            <a:endParaRPr sz="2037"/>
          </a:p>
        </p:txBody>
      </p:sp>
      <p:sp>
        <p:nvSpPr>
          <p:cNvPr id="178" name="Google Shape;178;p6"/>
          <p:cNvSpPr txBox="1"/>
          <p:nvPr/>
        </p:nvSpPr>
        <p:spPr>
          <a:xfrm>
            <a:off x="7452349" y="3371940"/>
            <a:ext cx="17667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7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ElasticNet</a:t>
            </a:r>
            <a:endParaRPr sz="2037"/>
          </a:p>
        </p:txBody>
      </p:sp>
      <p:sp>
        <p:nvSpPr>
          <p:cNvPr id="179" name="Google Shape;179;p6"/>
          <p:cNvSpPr txBox="1"/>
          <p:nvPr/>
        </p:nvSpPr>
        <p:spPr>
          <a:xfrm>
            <a:off x="9219060" y="3371940"/>
            <a:ext cx="2340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7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α=0.03, l1_ratio=0.7</a:t>
            </a:r>
            <a:endParaRPr sz="2037"/>
          </a:p>
        </p:txBody>
      </p:sp>
      <p:sp>
        <p:nvSpPr>
          <p:cNvPr id="180" name="Google Shape;180;p6"/>
          <p:cNvSpPr txBox="1"/>
          <p:nvPr/>
        </p:nvSpPr>
        <p:spPr>
          <a:xfrm>
            <a:off x="9219060" y="3927261"/>
            <a:ext cx="2340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7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False / True</a:t>
            </a:r>
            <a:endParaRPr sz="2037"/>
          </a:p>
        </p:txBody>
      </p:sp>
      <p:sp>
        <p:nvSpPr>
          <p:cNvPr id="181" name="Google Shape;181;p6"/>
          <p:cNvSpPr txBox="1"/>
          <p:nvPr/>
        </p:nvSpPr>
        <p:spPr>
          <a:xfrm>
            <a:off x="7452349" y="4627528"/>
            <a:ext cx="17667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7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Feature matrix</a:t>
            </a:r>
            <a:endParaRPr sz="2037"/>
          </a:p>
        </p:txBody>
      </p:sp>
      <p:sp>
        <p:nvSpPr>
          <p:cNvPr id="182" name="Google Shape;182;p6"/>
          <p:cNvSpPr txBox="1"/>
          <p:nvPr/>
        </p:nvSpPr>
        <p:spPr>
          <a:xfrm>
            <a:off x="9219060" y="4627528"/>
            <a:ext cx="2340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7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369 columns</a:t>
            </a:r>
            <a:endParaRPr sz="2037"/>
          </a:p>
        </p:txBody>
      </p:sp>
      <p:sp>
        <p:nvSpPr>
          <p:cNvPr id="183" name="Google Shape;183;p6"/>
          <p:cNvSpPr txBox="1"/>
          <p:nvPr/>
        </p:nvSpPr>
        <p:spPr>
          <a:xfrm>
            <a:off x="7452349" y="3865142"/>
            <a:ext cx="17667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7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Smearing (SVR / EN)</a:t>
            </a:r>
            <a:endParaRPr sz="2037"/>
          </a:p>
        </p:txBody>
      </p:sp>
      <p:sp>
        <p:nvSpPr>
          <p:cNvPr id="184" name="Google Shape;184;p6"/>
          <p:cNvSpPr txBox="1"/>
          <p:nvPr/>
        </p:nvSpPr>
        <p:spPr>
          <a:xfrm>
            <a:off x="7452349" y="5141437"/>
            <a:ext cx="17667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7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Validation RMSE</a:t>
            </a:r>
            <a:endParaRPr sz="2037"/>
          </a:p>
        </p:txBody>
      </p:sp>
      <p:sp>
        <p:nvSpPr>
          <p:cNvPr id="185" name="Google Shape;185;p6"/>
          <p:cNvSpPr txBox="1"/>
          <p:nvPr/>
        </p:nvSpPr>
        <p:spPr>
          <a:xfrm>
            <a:off x="9219060" y="5141437"/>
            <a:ext cx="2340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7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$32,187</a:t>
            </a:r>
            <a:endParaRPr sz="2037"/>
          </a:p>
        </p:txBody>
      </p:sp>
      <p:sp>
        <p:nvSpPr>
          <p:cNvPr id="186" name="Google Shape;186;p6"/>
          <p:cNvSpPr txBox="1"/>
          <p:nvPr/>
        </p:nvSpPr>
        <p:spPr>
          <a:xfrm>
            <a:off x="7452349" y="5593225"/>
            <a:ext cx="17667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7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Internal test RMSE</a:t>
            </a:r>
            <a:endParaRPr sz="2037"/>
          </a:p>
        </p:txBody>
      </p:sp>
      <p:sp>
        <p:nvSpPr>
          <p:cNvPr id="187" name="Google Shape;187;p6"/>
          <p:cNvSpPr txBox="1"/>
          <p:nvPr/>
        </p:nvSpPr>
        <p:spPr>
          <a:xfrm>
            <a:off x="9219060" y="5593225"/>
            <a:ext cx="23409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7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$73,028</a:t>
            </a:r>
            <a:endParaRPr sz="2037"/>
          </a:p>
        </p:txBody>
      </p:sp>
      <p:sp>
        <p:nvSpPr>
          <p:cNvPr id="188" name="Google Shape;188;p6"/>
          <p:cNvSpPr/>
          <p:nvPr/>
        </p:nvSpPr>
        <p:spPr>
          <a:xfrm>
            <a:off x="7728725" y="-847200"/>
            <a:ext cx="3975600" cy="1304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Calibri"/>
                <a:ea typeface="Calibri"/>
                <a:cs typeface="Calibri"/>
                <a:sym typeface="Calibri"/>
              </a:rPr>
              <a:t>fix</a:t>
            </a:r>
            <a:endParaRPr sz="27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d3eafa76d_0_625"/>
          <p:cNvSpPr/>
          <p:nvPr/>
        </p:nvSpPr>
        <p:spPr>
          <a:xfrm>
            <a:off x="0" y="0"/>
            <a:ext cx="5487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d3eafa76d_0_625"/>
          <p:cNvSpPr txBox="1"/>
          <p:nvPr/>
        </p:nvSpPr>
        <p:spPr>
          <a:xfrm>
            <a:off x="914400" y="3074995"/>
            <a:ext cx="10515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Classification: </a:t>
            </a:r>
            <a:endParaRPr/>
          </a:p>
        </p:txBody>
      </p:sp>
      <p:sp>
        <p:nvSpPr>
          <p:cNvPr id="196" name="Google Shape;196;g3fd3eafa76d_0_625"/>
          <p:cNvSpPr/>
          <p:nvPr/>
        </p:nvSpPr>
        <p:spPr>
          <a:xfrm>
            <a:off x="914400" y="4023360"/>
            <a:ext cx="2286000" cy="25500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